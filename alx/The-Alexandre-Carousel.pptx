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5905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0" y="533400"/>
            <a:ext cx="3619500" cy="14922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742950"/>
            <a:ext cx="3048000" cy="1073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416992"/>
            <a:ext cx="6398499" cy="27241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650" b="0" i="0" spc="495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CONDO FINANCING AT THE ALEXANDRE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819900"/>
            <a:ext cx="6717327" cy="17438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156"/>
              </a:lnSpc>
            </a:pPr>
            <a:r>
              <a:rPr sz="570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As little as 5% down at The Alexandre.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702575"/>
            <a:ext cx="8500779" cy="37147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FFFFFF"/>
                </a:solidFill>
                <a:latin typeface="Jost Light"/>
                <a:ea typeface="Jost Light"/>
                <a:cs typeface="Jost Light"/>
              </a:rPr>
              <a:t>Conventional condo financing for eligible primary-residence buyers.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0797778"/>
            <a:ext cx="7239000" cy="9525"/>
          </a:xfrm>
          <a:prstGeom prst="rect">
            <a:avLst/>
          </a:prstGeom>
          <a:solidFill>
            <a:srgbClr val="6C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g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789021"/>
            <a:ext cx="704850" cy="704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47825" y="9628614"/>
            <a:ext cx="1213788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 spc="234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YOUR LENDER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7825" y="9811003"/>
            <a:ext cx="2064734" cy="34671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Nate DiGiovanni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7825" y="10178176"/>
            <a:ext cx="3549866" cy="21050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FFFFFF"/>
                </a:solidFill>
                <a:latin typeface="Jost Light"/>
                <a:ea typeface="Jost Light"/>
                <a:cs typeface="Jost Light"/>
              </a:rPr>
              <a:t>Loan Officer | NMLS #1934694 | Eustis Mortgage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7825" y="10444876"/>
            <a:ext cx="3075173" cy="21050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FFFFFF"/>
                </a:solidFill>
                <a:latin typeface="Jost"/>
                <a:ea typeface="Jost"/>
                <a:cs typeface="Jost"/>
              </a:rPr>
              <a:t>504.418.3416 | nate@eustismortgage.com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81663" y="9650908"/>
            <a:ext cx="74295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g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763" y="9689008"/>
            <a:ext cx="666750" cy="666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05277" y="10461009"/>
            <a:ext cx="1585466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 spc="234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APPLY WITH 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11140201"/>
            <a:ext cx="1706939" cy="21050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75" b="0" i="0" spc="306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FINANCING BY</a:t>
            </a:r>
          </a:p>
        </p:txBody>
      </p:sp>
      <p:pic>
        <p:nvPicPr>
          <p:cNvPr id="19" name="Picture 18" descr="img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295" y="11007328"/>
            <a:ext cx="1248370" cy="476250"/>
          </a:xfrm>
          <a:prstGeom prst="rect">
            <a:avLst/>
          </a:prstGeom>
        </p:spPr>
      </p:pic>
      <p:pic>
        <p:nvPicPr>
          <p:cNvPr id="20" name="Picture 19" descr="snap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1828264"/>
            <a:ext cx="352425" cy="3238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90625" y="11817846"/>
            <a:ext cx="1262220" cy="343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7"/>
              </a:lnSpc>
            </a:pPr>
            <a:r>
              <a:rPr sz="1050" b="0" i="0" spc="63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EQUAL HOUSING</a:t>
            </a:r>
          </a:p>
          <a:p>
            <a:pPr algn="l">
              <a:lnSpc>
                <a:spcPts val="1207"/>
              </a:lnSpc>
            </a:pPr>
            <a:r>
              <a:rPr sz="1050" b="0" i="0" spc="63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9026" y="11569303"/>
            <a:ext cx="5301766" cy="8361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 spc="24">
                <a:solidFill>
                  <a:srgbClr val="FFFFFF"/>
                </a:solidFill>
                <a:latin typeface="Jost"/>
                <a:ea typeface="Jost"/>
                <a:cs typeface="Jost"/>
              </a:rPr>
              <a:t>CONVENTIONAL FINANCING OFFERED BY EUSTIS MORTGAGE CORPORATION. NOT A COMMITMENT TO LEND. ALL BORROWERS ARE SUBJECT TO CREDIT APPROVAL. RATES AND TERMS MAY CHANGE AT ANYTIME WITHOUT NOTICE. NMLS #70345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404" y="12139612"/>
            <a:ext cx="1212211" cy="2476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0" i="0" spc="360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930592"/>
            <a:ext cx="6398499" cy="27241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650" b="0" i="0" spc="495">
                <a:solidFill>
                  <a:srgbClr val="2D2D2D"/>
                </a:solidFill>
                <a:latin typeface="Jost Medium"/>
                <a:ea typeface="Jost Medium"/>
                <a:cs typeface="Jost Medium"/>
              </a:rPr>
              <a:t>CONDO FINANCING AT THE ALEXANDRE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371600"/>
            <a:ext cx="4984515" cy="7429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450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Primary residence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286952"/>
            <a:ext cx="2390030" cy="3219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950" b="0" i="0" spc="507">
                <a:solidFill>
                  <a:srgbClr val="2D2D2D"/>
                </a:solidFill>
                <a:latin typeface="Jost Medium"/>
                <a:ea typeface="Jost Medium"/>
                <a:cs typeface="Jost Medium"/>
              </a:rPr>
              <a:t>AS LITTLE 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066925"/>
            <a:ext cx="3780192" cy="381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125"/>
              </a:lnSpc>
            </a:pPr>
            <a:r>
              <a:rPr sz="2250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7319" y="4686300"/>
            <a:ext cx="1283517" cy="37147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250" b="0" i="0" spc="540">
                <a:solidFill>
                  <a:srgbClr val="2D2D2D"/>
                </a:solidFill>
                <a:latin typeface="Jost Medium"/>
                <a:ea typeface="Jost Medium"/>
                <a:cs typeface="Jost Medium"/>
              </a:rPr>
              <a:t>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381625"/>
            <a:ext cx="7834095" cy="10334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937"/>
              </a:lnSpc>
            </a:pPr>
            <a:r>
              <a:rPr sz="315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Conventional condo financing for eligible primary‑residence buyers and units.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7502872"/>
            <a:ext cx="8610600" cy="9525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7774334"/>
            <a:ext cx="2377252" cy="2476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0" i="0" spc="420">
                <a:solidFill>
                  <a:srgbClr val="2D2D2D"/>
                </a:solidFill>
                <a:latin typeface="Jost Medium"/>
                <a:ea typeface="Jost Medium"/>
                <a:cs typeface="Jost Medium"/>
              </a:rPr>
              <a:t>ALSO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8140094"/>
            <a:ext cx="5962929" cy="42100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Second home and investment property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5604" y="8254394"/>
            <a:ext cx="1858387" cy="2971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Contact for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200" y="10850909"/>
            <a:ext cx="8610600" cy="9525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42152"/>
            <a:ext cx="704850" cy="704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24025" y="9681745"/>
            <a:ext cx="1213788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 spc="234">
                <a:solidFill>
                  <a:srgbClr val="2D2D2D"/>
                </a:solidFill>
                <a:latin typeface="Jost Medium"/>
                <a:ea typeface="Jost Medium"/>
                <a:cs typeface="Jost Medium"/>
              </a:rPr>
              <a:t>YOUR LENDER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4025" y="9864134"/>
            <a:ext cx="2064734" cy="34671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Nate DiGiovanni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4025" y="10231308"/>
            <a:ext cx="3549866" cy="21050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2D2D2D"/>
                </a:solidFill>
                <a:latin typeface="Jost Light"/>
                <a:ea typeface="Jost Light"/>
                <a:cs typeface="Jost Light"/>
              </a:rPr>
              <a:t>Loan Officer | NMLS #1934694 | Eustis Mortgage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24025" y="10498008"/>
            <a:ext cx="3075173" cy="21050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504.418.3416 | nate@eustismortgage.com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9463" y="9704040"/>
            <a:ext cx="74295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g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563" y="9742140"/>
            <a:ext cx="666750" cy="6667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53077" y="10514141"/>
            <a:ext cx="1585466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 spc="234">
                <a:solidFill>
                  <a:srgbClr val="2D2D2D"/>
                </a:solidFill>
                <a:latin typeface="Jost Medium"/>
                <a:ea typeface="Jost Medium"/>
                <a:cs typeface="Jost Medium"/>
              </a:rPr>
              <a:t>APPLY WITH NATE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11193333"/>
            <a:ext cx="1706939" cy="21050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75" b="0" i="0" spc="306">
                <a:solidFill>
                  <a:srgbClr val="555555"/>
                </a:solidFill>
                <a:latin typeface="Jost Medium"/>
                <a:ea typeface="Jost Medium"/>
                <a:cs typeface="Jost Medium"/>
              </a:rPr>
              <a:t>FINANCING BY</a:t>
            </a:r>
          </a:p>
        </p:txBody>
      </p:sp>
      <p:pic>
        <p:nvPicPr>
          <p:cNvPr id="23" name="Picture 22" descr="img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9495" y="11060459"/>
            <a:ext cx="1248816" cy="476250"/>
          </a:xfrm>
          <a:prstGeom prst="rect">
            <a:avLst/>
          </a:prstGeom>
        </p:spPr>
      </p:pic>
      <p:pic>
        <p:nvPicPr>
          <p:cNvPr id="24" name="Picture 23" descr="snap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1778555"/>
            <a:ext cx="352425" cy="3238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66825" y="11768137"/>
            <a:ext cx="1262220" cy="343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7"/>
              </a:lnSpc>
            </a:pPr>
            <a:r>
              <a:rPr sz="1050" b="0" i="0" spc="63">
                <a:solidFill>
                  <a:srgbClr val="555555"/>
                </a:solidFill>
                <a:latin typeface="Jost Medium"/>
                <a:ea typeface="Jost Medium"/>
                <a:cs typeface="Jost Medium"/>
              </a:rPr>
              <a:t>EQUAL HOUSING</a:t>
            </a:r>
          </a:p>
          <a:p>
            <a:pPr algn="l">
              <a:lnSpc>
                <a:spcPts val="1207"/>
              </a:lnSpc>
            </a:pPr>
            <a:r>
              <a:rPr sz="1050" b="0" i="0" spc="63">
                <a:solidFill>
                  <a:srgbClr val="555555"/>
                </a:solidFill>
                <a:latin typeface="Jost Medium"/>
                <a:ea typeface="Jost Medium"/>
                <a:cs typeface="Jost Medium"/>
              </a:rPr>
              <a:t>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5970" y="11622434"/>
            <a:ext cx="6829651" cy="6304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 spc="24">
                <a:solidFill>
                  <a:srgbClr val="555555"/>
                </a:solidFill>
                <a:latin typeface="Jost"/>
                <a:ea typeface="Jost"/>
                <a:cs typeface="Jost"/>
              </a:rPr>
              <a:t>CONVENTIONAL FINANCING OFFERED BY EUSTIS MORTGAGE CORPORATION. NOT A COMMITMENT TO LEND. ALL BORROWERS ARE SUBJECT TO CREDIT APPROVAL. RATES AND TERMS MAY CHANGE AT ANYTIME WITHOUT NOTICE. NMLS #70345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78192"/>
            <a:ext cx="4781481" cy="27241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650" b="0" i="0" spc="495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DESIGNED TO BE EFFORTLESS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65830"/>
            <a:ext cx="6257621" cy="94107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570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Inside the condos.</a:t>
            </a:r>
          </a:p>
        </p:txBody>
      </p:sp>
      <p:pic>
        <p:nvPicPr>
          <p:cNvPr id="5" name="Picture 4" descr="img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77380"/>
            <a:ext cx="4305300" cy="3061394"/>
          </a:xfrm>
          <a:prstGeom prst="rect">
            <a:avLst/>
          </a:prstGeom>
        </p:spPr>
      </p:pic>
      <p:pic>
        <p:nvPicPr>
          <p:cNvPr id="6" name="Picture 5" descr="img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2377380"/>
            <a:ext cx="4305300" cy="3061394"/>
          </a:xfrm>
          <a:prstGeom prst="rect">
            <a:avLst/>
          </a:prstGeom>
        </p:spPr>
      </p:pic>
      <p:pic>
        <p:nvPicPr>
          <p:cNvPr id="7" name="Picture 6" descr="img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591175"/>
            <a:ext cx="4305300" cy="3061543"/>
          </a:xfrm>
          <a:prstGeom prst="rect">
            <a:avLst/>
          </a:prstGeom>
        </p:spPr>
      </p:pic>
      <p:pic>
        <p:nvPicPr>
          <p:cNvPr id="8" name="Picture 7" descr="img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700" y="5591175"/>
            <a:ext cx="4305300" cy="30615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9002285"/>
            <a:ext cx="4410277" cy="39624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336 Camp Street, New Orleans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1404" y="9143255"/>
            <a:ext cx="1212211" cy="2476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0" i="0" spc="360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SWIPE 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10927258"/>
            <a:ext cx="8763000" cy="9525"/>
          </a:xfrm>
          <a:prstGeom prst="rect">
            <a:avLst/>
          </a:prstGeom>
          <a:solidFill>
            <a:srgbClr val="6C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g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9918501"/>
            <a:ext cx="704850" cy="704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7825" y="9758094"/>
            <a:ext cx="1213788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 spc="234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YOUR LENDER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7825" y="9940483"/>
            <a:ext cx="2064734" cy="34671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Nate DiGiovanni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7825" y="10307657"/>
            <a:ext cx="3549866" cy="21050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FFFFFF"/>
                </a:solidFill>
                <a:latin typeface="Jost Light"/>
                <a:ea typeface="Jost Light"/>
                <a:cs typeface="Jost Light"/>
              </a:rPr>
              <a:t>Loan Officer | NMLS #1934694 | Eustis Mortgage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7825" y="10574357"/>
            <a:ext cx="3075173" cy="21050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FFFFFF"/>
                </a:solidFill>
                <a:latin typeface="Jost"/>
                <a:ea typeface="Jost"/>
                <a:cs typeface="Jost"/>
              </a:rPr>
              <a:t>504.418.3416 | nate@eustismortgage.com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5663" y="9780389"/>
            <a:ext cx="74295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g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3763" y="9818489"/>
            <a:ext cx="666750" cy="666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29277" y="10590490"/>
            <a:ext cx="1585466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 spc="234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APPLY WITH 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11269682"/>
            <a:ext cx="1706939" cy="21050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75" b="0" i="0" spc="306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FINANCING BY</a:t>
            </a:r>
          </a:p>
        </p:txBody>
      </p:sp>
      <p:pic>
        <p:nvPicPr>
          <p:cNvPr id="21" name="Picture 20" descr="img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3295" y="11136808"/>
            <a:ext cx="1248370" cy="476250"/>
          </a:xfrm>
          <a:prstGeom prst="rect">
            <a:avLst/>
          </a:prstGeom>
        </p:spPr>
      </p:pic>
      <p:pic>
        <p:nvPicPr>
          <p:cNvPr id="22" name="Picture 21" descr="snap1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1854904"/>
            <a:ext cx="352425" cy="3238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90625" y="11844486"/>
            <a:ext cx="1262220" cy="343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7"/>
              </a:lnSpc>
            </a:pPr>
            <a:r>
              <a:rPr sz="1050" b="0" i="0" spc="63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EQUAL HOUSING</a:t>
            </a:r>
          </a:p>
          <a:p>
            <a:pPr algn="l">
              <a:lnSpc>
                <a:spcPts val="1207"/>
              </a:lnSpc>
            </a:pPr>
            <a:r>
              <a:rPr sz="1050" b="0" i="0" spc="63">
                <a:solidFill>
                  <a:srgbClr val="FFFFFF"/>
                </a:solidFill>
                <a:latin typeface="Jost Medium"/>
                <a:ea typeface="Jost Medium"/>
                <a:cs typeface="Jost Medium"/>
              </a:rPr>
              <a:t>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89919" y="11698783"/>
            <a:ext cx="6829651" cy="6304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 spc="24">
                <a:solidFill>
                  <a:srgbClr val="FFFFFF"/>
                </a:solidFill>
                <a:latin typeface="Jost"/>
                <a:ea typeface="Jost"/>
                <a:cs typeface="Jost"/>
              </a:rPr>
              <a:t>CONVENTIONAL FINANCING OFFERED BY EUSTIS MORTGAGE CORPORATION. NOT A COMMITMENT TO LEND. ALL BORROWERS ARE SUBJECT TO CREDIT APPROVAL. RATES AND TERMS MAY CHANGE AT ANYTIME WITHOUT NOTICE. NMLS #70345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930592"/>
            <a:ext cx="1911866" cy="27241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650" b="0" i="0" spc="495">
                <a:solidFill>
                  <a:srgbClr val="2D2D2D"/>
                </a:solidFill>
                <a:latin typeface="Jost Medium"/>
                <a:ea typeface="Jost Medium"/>
                <a:cs typeface="Jost Medium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333500"/>
            <a:ext cx="4735889" cy="154215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44"/>
              </a:lnSpc>
            </a:pPr>
            <a:r>
              <a:rPr sz="495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Ready to own at The Alexandre?</a:t>
            </a:r>
          </a:p>
        </p:txBody>
      </p:sp>
      <p:pic>
        <p:nvPicPr>
          <p:cNvPr id="5" name="Picture 4" descr="im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50543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67100" y="4208710"/>
            <a:ext cx="1867379" cy="2476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0" i="0" spc="360">
                <a:solidFill>
                  <a:srgbClr val="2D2D2D"/>
                </a:solidFill>
                <a:latin typeface="Jost Medium"/>
                <a:ea typeface="Jost Medium"/>
                <a:cs typeface="Jost Medium"/>
              </a:rPr>
              <a:t>YOUR LENDER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7100" y="4490635"/>
            <a:ext cx="3834303" cy="6438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390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Nate DiGiovanni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7100" y="5172610"/>
            <a:ext cx="3207847" cy="2971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D2D2D"/>
                </a:solidFill>
                <a:latin typeface="Jost Light"/>
                <a:ea typeface="Jost Light"/>
                <a:cs typeface="Jost Light"/>
              </a:rPr>
              <a:t>Loan Officer | NMLS #1934694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7100" y="5563135"/>
            <a:ext cx="1598402" cy="2971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D2D2D"/>
                </a:solidFill>
                <a:latin typeface="Jost Light"/>
                <a:ea typeface="Jost Light"/>
                <a:cs typeface="Jost Light"/>
              </a:rPr>
              <a:t>Eustis Mortgage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7100" y="6011763"/>
            <a:ext cx="1837405" cy="37147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504.418.3416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7100" y="6477535"/>
            <a:ext cx="2587070" cy="2971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D2D2D"/>
                </a:solidFill>
                <a:latin typeface="Jost Light"/>
                <a:ea typeface="Jost Light"/>
                <a:cs typeface="Jost Light"/>
              </a:rPr>
              <a:t>nate@eustismortgage.com</a:t>
            </a:r>
          </a:p>
        </p:txBody>
      </p:sp>
      <p:pic>
        <p:nvPicPr>
          <p:cNvPr id="12" name="Picture 11" descr="img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923" y="4631531"/>
            <a:ext cx="1428750" cy="1428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7944" y="6146958"/>
            <a:ext cx="1951306" cy="198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00" b="0" i="0" spc="288">
                <a:solidFill>
                  <a:srgbClr val="2D2D2D"/>
                </a:solidFill>
                <a:latin typeface="Jost Medium"/>
                <a:ea typeface="Jost Medium"/>
                <a:cs typeface="Jost Medium"/>
              </a:rPr>
              <a:t>APPLY WITH NATE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7173813"/>
            <a:ext cx="8610600" cy="14287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g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7569100"/>
            <a:ext cx="1428750" cy="14287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09850" y="7716291"/>
            <a:ext cx="2475377" cy="24765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0" i="0" spc="360">
                <a:solidFill>
                  <a:srgbClr val="2D2D2D"/>
                </a:solidFill>
                <a:latin typeface="Jost Medium"/>
                <a:ea typeface="Jost Medium"/>
                <a:cs typeface="Jost Medium"/>
              </a:rPr>
              <a:t>TOURS AND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9850" y="8011060"/>
            <a:ext cx="2638499" cy="42100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Desiree McSwain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9850" y="8522999"/>
            <a:ext cx="1574896" cy="3219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950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504-232-8199</a:t>
            </a:r>
          </a:p>
        </p:txBody>
      </p:sp>
      <p:pic>
        <p:nvPicPr>
          <p:cNvPr id="19" name="Picture 18" descr="img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0374659"/>
            <a:ext cx="1515219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73787" y="10439429"/>
            <a:ext cx="3895513" cy="34671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coolmurphy.com/thealexandre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11193333"/>
            <a:ext cx="1706939" cy="21050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75" b="0" i="0" spc="306">
                <a:solidFill>
                  <a:srgbClr val="555555"/>
                </a:solidFill>
                <a:latin typeface="Jost Medium"/>
                <a:ea typeface="Jost Medium"/>
                <a:cs typeface="Jost Medium"/>
              </a:rPr>
              <a:t>FINANCING BY</a:t>
            </a:r>
          </a:p>
        </p:txBody>
      </p:sp>
      <p:pic>
        <p:nvPicPr>
          <p:cNvPr id="22" name="Picture 21" descr="img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9495" y="11060459"/>
            <a:ext cx="1248816" cy="476250"/>
          </a:xfrm>
          <a:prstGeom prst="rect">
            <a:avLst/>
          </a:prstGeom>
        </p:spPr>
      </p:pic>
      <p:pic>
        <p:nvPicPr>
          <p:cNvPr id="23" name="Picture 22" descr="snap4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1778555"/>
            <a:ext cx="352425" cy="3238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66825" y="11768137"/>
            <a:ext cx="1262220" cy="343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7"/>
              </a:lnSpc>
            </a:pPr>
            <a:r>
              <a:rPr sz="1050" b="0" i="0" spc="63">
                <a:solidFill>
                  <a:srgbClr val="555555"/>
                </a:solidFill>
                <a:latin typeface="Jost Medium"/>
                <a:ea typeface="Jost Medium"/>
                <a:cs typeface="Jost Medium"/>
              </a:rPr>
              <a:t>EQUAL HOUSING</a:t>
            </a:r>
          </a:p>
          <a:p>
            <a:pPr algn="l">
              <a:lnSpc>
                <a:spcPts val="1207"/>
              </a:lnSpc>
            </a:pPr>
            <a:r>
              <a:rPr sz="1050" b="0" i="0" spc="63">
                <a:solidFill>
                  <a:srgbClr val="555555"/>
                </a:solidFill>
                <a:latin typeface="Jost Medium"/>
                <a:ea typeface="Jost Medium"/>
                <a:cs typeface="Jost Medium"/>
              </a:rPr>
              <a:t>OPPORTUNITY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5970" y="11622434"/>
            <a:ext cx="6829651" cy="6304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 spc="24">
                <a:solidFill>
                  <a:srgbClr val="555555"/>
                </a:solidFill>
                <a:latin typeface="Jost"/>
                <a:ea typeface="Jost"/>
                <a:cs typeface="Jost"/>
              </a:rPr>
              <a:t>CONVENTIONAL FINANCING OFFERED BY EUSTIS MORTGAGE CORPORATION. NOT A COMMITMENT TO LEND. ALL BORROWERS ARE SUBJECT TO CREDIT APPROVAL. RATES AND TERMS MAY CHANGE AT ANYTIME WITHOUT NOTICE. NMLS #70345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