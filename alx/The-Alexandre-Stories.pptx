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001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2000" y="2286000"/>
            <a:ext cx="4038600" cy="16646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514600"/>
            <a:ext cx="3429000" cy="12074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8497252"/>
            <a:ext cx="8703391" cy="32194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950" b="0" i="0" spc="585">
                <a:solidFill>
                  <a:srgbClr val="FFFFFF"/>
                </a:solidFill>
                <a:latin typeface="Futura"/>
                <a:ea typeface="Futura"/>
                <a:cs typeface="Futura"/>
              </a:rPr>
              <a:t>CONDO FINANCING AT THE ALEXANDRE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963025"/>
            <a:ext cx="6317096" cy="23639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190"/>
              </a:lnSpc>
            </a:pPr>
            <a:r>
              <a:rPr sz="7800" b="0" i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As little as 5% 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1443096"/>
            <a:ext cx="8501095" cy="13733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70"/>
              </a:lnSpc>
            </a:pPr>
            <a:r>
              <a:rPr sz="255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Conventional condo financing for eligible primary-residence buyers. Second home and investment property options also available.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14271277"/>
            <a:ext cx="8763000" cy="9525"/>
          </a:xfrm>
          <a:prstGeom prst="rect">
            <a:avLst/>
          </a:prstGeom>
          <a:solidFill>
            <a:srgbClr val="6C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g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3069639"/>
            <a:ext cx="828675" cy="8286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09750" y="12870656"/>
            <a:ext cx="1611981" cy="18573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125" b="0" i="0" spc="27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YOUR LENDER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9750" y="13084477"/>
            <a:ext cx="2800540" cy="40862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Nate DiGiovanni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9750" y="13523565"/>
            <a:ext cx="4806710" cy="24765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Loan Officer | NMLS #1934694 | Eustis Mortgage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9750" y="13847415"/>
            <a:ext cx="4163951" cy="24765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504.418.3416 | nate@eustismortgage.com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14419" y="12898189"/>
            <a:ext cx="895350" cy="895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g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044" y="12945814"/>
            <a:ext cx="800100" cy="800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99189" y="13872120"/>
            <a:ext cx="2105489" cy="18573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125" b="0" i="0" spc="27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APPLY WITH NATE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14666565"/>
            <a:ext cx="2311208" cy="24765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0" i="0" spc="36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FINANCING BY</a:t>
            </a:r>
          </a:p>
        </p:txBody>
      </p:sp>
      <p:pic>
        <p:nvPicPr>
          <p:cNvPr id="19" name="Picture 18" descr="img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5983" y="14509402"/>
            <a:ext cx="1473100" cy="561975"/>
          </a:xfrm>
          <a:prstGeom prst="rect">
            <a:avLst/>
          </a:prstGeom>
        </p:spPr>
      </p:pic>
      <p:pic>
        <p:nvPicPr>
          <p:cNvPr id="20" name="Picture 19" descr="snap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5474106"/>
            <a:ext cx="419100" cy="381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76350" y="15449847"/>
            <a:ext cx="1541115" cy="41478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6"/>
              </a:lnSpc>
            </a:pPr>
            <a:r>
              <a:rPr sz="1275" b="0" i="0" spc="76">
                <a:solidFill>
                  <a:srgbClr val="FFFFFF"/>
                </a:solidFill>
                <a:latin typeface="Futura"/>
                <a:ea typeface="Futura"/>
                <a:cs typeface="Futura"/>
              </a:rPr>
              <a:t>EQUAL HOUSING</a:t>
            </a:r>
          </a:p>
          <a:p>
            <a:pPr algn="l">
              <a:lnSpc>
                <a:spcPts val="1466"/>
              </a:lnSpc>
            </a:pPr>
            <a:r>
              <a:rPr sz="1275" b="0" i="0" spc="76">
                <a:solidFill>
                  <a:srgbClr val="FFFFFF"/>
                </a:solidFill>
                <a:latin typeface="Futura"/>
                <a:ea typeface="Futura"/>
                <a:cs typeface="Futura"/>
              </a:rPr>
              <a:t>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7141" y="15166627"/>
            <a:ext cx="6295798" cy="9898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23"/>
              </a:lnSpc>
            </a:pPr>
            <a:r>
              <a:rPr sz="1425" b="0" i="0" spc="29">
                <a:solidFill>
                  <a:srgbClr val="FFFFFF"/>
                </a:solidFill>
                <a:latin typeface="Futura"/>
                <a:ea typeface="Futura"/>
                <a:cs typeface="Futura"/>
              </a:rPr>
              <a:t>CONVENTIONAL FINANCING OFFERED BY EUSTIS MORTGAGE CORPORATION. NOT A COMMITMENT TO LEND. ALL BORROWERS ARE SUBJECT TO CREDIT APPROVAL. RATES AND TERMS MAY CHANGE AT ANYTIME WITHOUT NOTICE. NMLS #70345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306002"/>
            <a:ext cx="4856279" cy="32194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950" b="0" i="0" spc="585">
                <a:solidFill>
                  <a:srgbClr val="2D2D2D"/>
                </a:solidFill>
                <a:latin typeface="Futura"/>
                <a:ea typeface="Futura"/>
                <a:cs typeface="Futura"/>
              </a:rPr>
              <a:t>IF WALLS COULD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733675"/>
            <a:ext cx="6576765" cy="20195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128"/>
              </a:lnSpc>
            </a:pPr>
            <a:r>
              <a:rPr sz="6600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Uncommon New Orleans living.</a:t>
            </a:r>
          </a:p>
        </p:txBody>
      </p:sp>
      <p:pic>
        <p:nvPicPr>
          <p:cNvPr id="5" name="Picture 4" descr="img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991695"/>
            <a:ext cx="4305300" cy="5953869"/>
          </a:xfrm>
          <a:prstGeom prst="rect">
            <a:avLst/>
          </a:prstGeom>
        </p:spPr>
      </p:pic>
      <p:pic>
        <p:nvPicPr>
          <p:cNvPr id="6" name="Picture 5" descr="img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4991695"/>
            <a:ext cx="4305300" cy="2900660"/>
          </a:xfrm>
          <a:prstGeom prst="rect">
            <a:avLst/>
          </a:prstGeom>
        </p:spPr>
      </p:pic>
      <p:pic>
        <p:nvPicPr>
          <p:cNvPr id="7" name="Picture 6" descr="img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700" y="8044755"/>
            <a:ext cx="4305300" cy="29008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40979" y="11293226"/>
            <a:ext cx="6404892" cy="4953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coolmurphy.com/thealexandre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13548717"/>
            <a:ext cx="8763000" cy="9525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g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2347078"/>
            <a:ext cx="828675" cy="8286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09750" y="12148095"/>
            <a:ext cx="1611981" cy="18573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125" b="0" i="0" spc="270">
                <a:solidFill>
                  <a:srgbClr val="2D2D2D"/>
                </a:solidFill>
                <a:latin typeface="Futura"/>
                <a:ea typeface="Futura"/>
                <a:cs typeface="Futura"/>
              </a:rPr>
              <a:t>YOUR LENDER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9750" y="12361917"/>
            <a:ext cx="2800540" cy="40862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Nate DiGiovanni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9750" y="12801004"/>
            <a:ext cx="4806710" cy="24765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D2D2D"/>
                </a:solidFill>
                <a:latin typeface="Futura"/>
                <a:ea typeface="Futura"/>
                <a:cs typeface="Futura"/>
              </a:rPr>
              <a:t>Loan Officer | NMLS #1934694 | Eustis Mortgage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9750" y="13124854"/>
            <a:ext cx="4163951" cy="24765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D2D2D"/>
                </a:solidFill>
                <a:latin typeface="Futura"/>
                <a:ea typeface="Futura"/>
                <a:cs typeface="Futura"/>
              </a:rPr>
              <a:t>504.418.3416 | nate@eustismortgage.com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14419" y="12175628"/>
            <a:ext cx="895350" cy="895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g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2044" y="12223253"/>
            <a:ext cx="800100" cy="800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99189" y="13149560"/>
            <a:ext cx="2105489" cy="18573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125" b="0" i="0" spc="270">
                <a:solidFill>
                  <a:srgbClr val="2D2D2D"/>
                </a:solidFill>
                <a:latin typeface="Futura"/>
                <a:ea typeface="Futura"/>
                <a:cs typeface="Futura"/>
              </a:rPr>
              <a:t>APPLY WITH NATE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13944004"/>
            <a:ext cx="2311208" cy="24765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0" i="0" spc="360">
                <a:solidFill>
                  <a:srgbClr val="555555"/>
                </a:solidFill>
                <a:latin typeface="Futura"/>
                <a:ea typeface="Futura"/>
                <a:cs typeface="Futura"/>
              </a:rPr>
              <a:t>FINANCING BY</a:t>
            </a:r>
          </a:p>
        </p:txBody>
      </p:sp>
      <p:pic>
        <p:nvPicPr>
          <p:cNvPr id="19" name="Picture 18" descr="img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5983" y="13786842"/>
            <a:ext cx="1473547" cy="561975"/>
          </a:xfrm>
          <a:prstGeom prst="rect">
            <a:avLst/>
          </a:prstGeom>
        </p:spPr>
      </p:pic>
      <p:pic>
        <p:nvPicPr>
          <p:cNvPr id="20" name="Picture 19" descr="snap4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4751546"/>
            <a:ext cx="419100" cy="381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76350" y="14727287"/>
            <a:ext cx="1541115" cy="41478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6"/>
              </a:lnSpc>
            </a:pPr>
            <a:r>
              <a:rPr sz="1275" b="0" i="0" spc="76">
                <a:solidFill>
                  <a:srgbClr val="555555"/>
                </a:solidFill>
                <a:latin typeface="Futura"/>
                <a:ea typeface="Futura"/>
                <a:cs typeface="Futura"/>
              </a:rPr>
              <a:t>EQUAL HOUSING</a:t>
            </a:r>
          </a:p>
          <a:p>
            <a:pPr algn="l">
              <a:lnSpc>
                <a:spcPts val="1466"/>
              </a:lnSpc>
            </a:pPr>
            <a:r>
              <a:rPr sz="1275" b="0" i="0" spc="76">
                <a:solidFill>
                  <a:srgbClr val="555555"/>
                </a:solidFill>
                <a:latin typeface="Futura"/>
                <a:ea typeface="Futura"/>
                <a:cs typeface="Futura"/>
              </a:rPr>
              <a:t>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7141" y="14444067"/>
            <a:ext cx="6295798" cy="9898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23"/>
              </a:lnSpc>
            </a:pPr>
            <a:r>
              <a:rPr sz="1425" b="0" i="0" spc="29">
                <a:solidFill>
                  <a:srgbClr val="555555"/>
                </a:solidFill>
                <a:latin typeface="Futura"/>
                <a:ea typeface="Futura"/>
                <a:cs typeface="Futura"/>
              </a:rPr>
              <a:t>CONVENTIONAL FINANCING OFFERED BY EUSTIS MORTGAGE CORPORATION. NOT A COMMITMENT TO LEND. ALL BORROWERS ARE SUBJECT TO CREDIT APPROVAL. RATES AND TERMS MAY CHANGE AT ANYTIME WITHOUT NOTICE. NMLS #70345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86000"/>
            <a:ext cx="4191000" cy="14757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4315182"/>
            <a:ext cx="2600631" cy="32194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950" b="0" i="0" spc="585">
                <a:solidFill>
                  <a:srgbClr val="FFFFFF"/>
                </a:solidFill>
                <a:latin typeface="Futura"/>
                <a:ea typeface="Futura"/>
                <a:cs typeface="Futura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876204"/>
            <a:ext cx="6924463" cy="17582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270"/>
              </a:lnSpc>
            </a:pPr>
            <a:r>
              <a:rPr sz="5700" b="0" i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Ready to own at The Alexandre?</a:t>
            </a:r>
          </a:p>
        </p:txBody>
      </p:sp>
      <p:pic>
        <p:nvPicPr>
          <p:cNvPr id="6" name="Picture 5" descr="img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886997"/>
            <a:ext cx="22860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90900" y="7679352"/>
            <a:ext cx="2364045" cy="27241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650" b="0" i="0" spc="396">
                <a:solidFill>
                  <a:srgbClr val="FFFFFF"/>
                </a:solidFill>
                <a:latin typeface="Futura"/>
                <a:ea typeface="Futura"/>
                <a:cs typeface="Futura"/>
              </a:rPr>
              <a:t>YOUR LENDER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0900" y="8035587"/>
            <a:ext cx="3903943" cy="56959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Nate DiGiovanni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0900" y="8692812"/>
            <a:ext cx="3999812" cy="32194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95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Loan Officer | NMLS #1934694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0900" y="9111912"/>
            <a:ext cx="1992915" cy="32194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95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Eustis Mortgage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900" y="9533870"/>
            <a:ext cx="2337899" cy="42100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504.418.3416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0900" y="10054887"/>
            <a:ext cx="3225596" cy="32194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95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nate@eustismortgage.com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70303" y="8039397"/>
            <a:ext cx="1638300" cy="1638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g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453" y="8096547"/>
            <a:ext cx="1524000" cy="1524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54056" y="9785330"/>
            <a:ext cx="2526550" cy="2228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350" b="0" i="0" spc="324">
                <a:solidFill>
                  <a:srgbClr val="FFFFFF"/>
                </a:solidFill>
                <a:latin typeface="Futura"/>
                <a:ea typeface="Futura"/>
                <a:cs typeface="Futura"/>
              </a:rPr>
              <a:t>APPLY WITH NATE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10815935"/>
            <a:ext cx="8763000" cy="14287"/>
          </a:xfrm>
          <a:prstGeom prst="rect">
            <a:avLst/>
          </a:prstGeom>
          <a:solidFill>
            <a:srgbClr val="8181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g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1249322"/>
            <a:ext cx="1428750" cy="14287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533650" y="11346477"/>
            <a:ext cx="3133903" cy="27241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650" b="0" i="0" spc="396">
                <a:solidFill>
                  <a:srgbClr val="FFFFFF"/>
                </a:solidFill>
                <a:latin typeface="Futura"/>
                <a:ea typeface="Futura"/>
                <a:cs typeface="Futura"/>
              </a:rPr>
              <a:t>TOURS AND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3650" y="11697950"/>
            <a:ext cx="3215428" cy="44577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Desiree McSwain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3650" y="12228492"/>
            <a:ext cx="1907396" cy="34671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504-232-8199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13944004"/>
            <a:ext cx="2311208" cy="24765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0" i="0" spc="36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FINANCING BY</a:t>
            </a:r>
          </a:p>
        </p:txBody>
      </p:sp>
      <p:pic>
        <p:nvPicPr>
          <p:cNvPr id="22" name="Picture 21" descr="img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5983" y="13786842"/>
            <a:ext cx="1473100" cy="561975"/>
          </a:xfrm>
          <a:prstGeom prst="rect">
            <a:avLst/>
          </a:prstGeom>
        </p:spPr>
      </p:pic>
      <p:pic>
        <p:nvPicPr>
          <p:cNvPr id="23" name="Picture 22" descr="snap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4751546"/>
            <a:ext cx="419100" cy="381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76350" y="14727287"/>
            <a:ext cx="1541115" cy="41478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6"/>
              </a:lnSpc>
            </a:pPr>
            <a:r>
              <a:rPr sz="1275" b="0" i="0" spc="76">
                <a:solidFill>
                  <a:srgbClr val="FFFFFF"/>
                </a:solidFill>
                <a:latin typeface="Futura"/>
                <a:ea typeface="Futura"/>
                <a:cs typeface="Futura"/>
              </a:rPr>
              <a:t>EQUAL HOUSING</a:t>
            </a:r>
          </a:p>
          <a:p>
            <a:pPr algn="l">
              <a:lnSpc>
                <a:spcPts val="1466"/>
              </a:lnSpc>
            </a:pPr>
            <a:r>
              <a:rPr sz="1275" b="0" i="0" spc="76">
                <a:solidFill>
                  <a:srgbClr val="FFFFFF"/>
                </a:solidFill>
                <a:latin typeface="Futura"/>
                <a:ea typeface="Futura"/>
                <a:cs typeface="Futura"/>
              </a:rPr>
              <a:t>OPPORTUNITY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87141" y="14444067"/>
            <a:ext cx="6295798" cy="9898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23"/>
              </a:lnSpc>
            </a:pPr>
            <a:r>
              <a:rPr sz="1425" b="0" i="0" spc="29">
                <a:solidFill>
                  <a:srgbClr val="FFFFFF"/>
                </a:solidFill>
                <a:latin typeface="Futura"/>
                <a:ea typeface="Futura"/>
                <a:cs typeface="Futura"/>
              </a:rPr>
              <a:t>CONVENTIONAL FINANCING OFFERED BY EUSTIS MORTGAGE CORPORATION. NOT A COMMITMENT TO LEND. ALL BORROWERS ARE SUBJECT TO CREDIT APPROVAL. RATES AND TERMS MAY CHANGE AT ANYTIME WITHOUT NOTICE. NMLS #70345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