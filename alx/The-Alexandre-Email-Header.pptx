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7150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04800"/>
            <a:ext cx="2190750" cy="7713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600" y="2206555"/>
            <a:ext cx="3509956" cy="16097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75" b="0" i="0" spc="214">
                <a:solidFill>
                  <a:srgbClr val="FFFFFF"/>
                </a:solidFill>
                <a:latin typeface="Jost"/>
                <a:ea typeface="Jost"/>
                <a:cs typeface="Jost"/>
              </a:rPr>
              <a:t>CONDO FINANCING AT THE ALEXANDRE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2449874"/>
            <a:ext cx="4076384" cy="54483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33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As little as 5% 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067050"/>
            <a:ext cx="4268622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condo financing for eligible primary-residence buyers.</a:t>
            </a:r>
          </a:p>
        </p:txBody>
      </p:sp>
      <p:pic>
        <p:nvPicPr>
          <p:cNvPr id="7" name="Picture 6" descr="img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0" y="0"/>
            <a:ext cx="6286500" cy="38481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3848100"/>
            <a:ext cx="11430000" cy="9525"/>
          </a:xfrm>
          <a:prstGeom prst="rect">
            <a:avLst/>
          </a:prstGeom>
          <a:solidFill>
            <a:srgbClr val="6161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9600" y="4834979"/>
            <a:ext cx="10210800" cy="9525"/>
          </a:xfrm>
          <a:prstGeom prst="rect">
            <a:avLst/>
          </a:prstGeom>
          <a:solidFill>
            <a:srgbClr val="6C6C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g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4121050"/>
            <a:ext cx="485775" cy="48577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19200" y="3994487"/>
            <a:ext cx="869007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Jost"/>
                <a:ea typeface="Jost"/>
                <a:cs typeface="Jost"/>
              </a:rPr>
              <a:t>YOUR LENDER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9200" y="4122553"/>
            <a:ext cx="1427481" cy="235267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1425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9200" y="4379684"/>
            <a:ext cx="2553104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Loan Officer | NMLS #1934694 | Eustis Mortgage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9200" y="4579709"/>
            <a:ext cx="2211705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FFFFFF"/>
                </a:solidFill>
                <a:latin typeface="Jost"/>
                <a:ea typeface="Jost"/>
                <a:cs typeface="Jost"/>
              </a:rPr>
              <a:t>504.418.3416 | nate@eustismortgage.com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45451" y="4025800"/>
            <a:ext cx="514350" cy="5143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g1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4026" y="4054375"/>
            <a:ext cx="457200" cy="4572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784853" y="4584442"/>
            <a:ext cx="1118389" cy="111442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675" b="0" i="0" spc="162">
                <a:solidFill>
                  <a:srgbClr val="FFFFFF"/>
                </a:solidFill>
                <a:latin typeface="Jost"/>
                <a:ea typeface="Jost"/>
                <a:cs typeface="Jost"/>
              </a:rPr>
              <a:t>APPLY WITH NATE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5036909"/>
            <a:ext cx="1227689" cy="148590"/>
          </a:xfrm>
          <a:prstGeom prst="rect">
            <a:avLst/>
          </a:prstGeom>
          <a:noFill/>
        </p:spPr>
        <p:txBody>
          <a:bodyPr wrap="none" lIns="0" rIns="0" tIns="0" bIns="0" anchor="ctr"/>
          <a:lstStyle/>
          <a:p>
            <a:pPr algn="l">
              <a:lnSpc>
                <a:spcPct val="100000"/>
              </a:lnSpc>
            </a:pPr>
            <a:r>
              <a:rPr sz="900" b="0" i="0" spc="216">
                <a:solidFill>
                  <a:srgbClr val="FFFFFF"/>
                </a:solidFill>
                <a:latin typeface="Jost"/>
                <a:ea typeface="Jost"/>
                <a:cs typeface="Jost"/>
              </a:rPr>
              <a:t>FINANCING BY</a:t>
            </a:r>
          </a:p>
        </p:txBody>
      </p:sp>
      <p:pic>
        <p:nvPicPr>
          <p:cNvPr id="19" name="Picture 18" descr="img1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70174" y="4987379"/>
            <a:ext cx="649039" cy="247650"/>
          </a:xfrm>
          <a:prstGeom prst="rect">
            <a:avLst/>
          </a:prstGeom>
        </p:spPr>
      </p:pic>
      <p:pic>
        <p:nvPicPr>
          <p:cNvPr id="20" name="Picture 19" descr="snap1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5333553"/>
            <a:ext cx="238125" cy="21907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04875" y="5314503"/>
            <a:ext cx="926752" cy="25241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FFFFFF"/>
                </a:solidFill>
                <a:latin typeface="Jost"/>
                <a:ea typeface="Jost"/>
                <a:cs typeface="Jost"/>
              </a:rPr>
              <a:t>EQUAL HOUSING</a:t>
            </a:r>
          </a:p>
          <a:p>
            <a:pPr algn="l">
              <a:lnSpc>
                <a:spcPts val="862"/>
              </a:lnSpc>
            </a:pPr>
            <a:r>
              <a:rPr sz="750" b="0" i="0" spc="45">
                <a:solidFill>
                  <a:srgbClr val="FFFFFF"/>
                </a:solidFill>
                <a:latin typeface="Jost"/>
                <a:ea typeface="Jost"/>
                <a:cs typeface="Jost"/>
              </a:rPr>
              <a:t>OPPORTUNITY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60202" y="5301704"/>
            <a:ext cx="6994" cy="282773"/>
          </a:xfrm>
          <a:prstGeom prst="rect">
            <a:avLst/>
          </a:prstGeom>
          <a:solidFill>
            <a:srgbClr val="9696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971972" y="5292179"/>
            <a:ext cx="9352008" cy="2937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1113"/>
              </a:lnSpc>
            </a:pPr>
            <a:r>
              <a:rPr sz="825" b="0" i="0" spc="16">
                <a:solidFill>
                  <a:srgbClr val="FFFFFF"/>
                </a:solidFill>
                <a:latin typeface="Jost"/>
                <a:ea typeface="Jost"/>
                <a:cs typeface="Jost"/>
              </a:rPr>
              <a:t>CONVENTIONAL FINANCING OFFERED BY EUSTIS MORTGAGE CORPORATION. NOT A COMMITMENT TO LEND. ALL BORROWERS ARE SUBJECT TO CREDIT APPROVAL. RATES AND TERMS MAY CHANGE AT ANYTIME WITHOUT NOTICE. NMLS #70345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