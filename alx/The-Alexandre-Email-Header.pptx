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00" cy="35433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6700"/>
            <a:ext cx="1809750" cy="6372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504027"/>
            <a:ext cx="4351695" cy="1485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75" b="0" i="0" spc="292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CONDO FINANCING AT THE ALEXANDRE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449"/>
            <a:ext cx="1481250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 spc="273">
                <a:solidFill>
                  <a:srgbClr val="FFFFFF"/>
                </a:solidFill>
                <a:latin typeface="Futura"/>
                <a:ea typeface="Futura"/>
                <a:cs typeface="Futura"/>
              </a:rPr>
              <a:t>AS LITTLE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25969"/>
            <a:ext cx="1508304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00" b="0" i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82290"/>
            <a:ext cx="702495" cy="160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 spc="273">
                <a:solidFill>
                  <a:srgbClr val="FFFFFF"/>
                </a:solidFill>
                <a:latin typeface="Futura"/>
                <a:ea typeface="Futura"/>
                <a:cs typeface="Futura"/>
              </a:rPr>
              <a:t>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1665" y="1821209"/>
            <a:ext cx="4762" cy="143634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2177" y="2263080"/>
            <a:ext cx="284248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5"/>
              </a:lnSpc>
            </a:pPr>
            <a:r>
              <a:rPr sz="1500" b="0" i="0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Conventional condo financing for eligible primary‑residence buyers.</a:t>
            </a:r>
          </a:p>
        </p:txBody>
      </p:sp>
      <p:pic>
        <p:nvPicPr>
          <p:cNvPr id="11" name="Picture 10" descr="im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0"/>
            <a:ext cx="5905500" cy="3543300"/>
          </a:xfrm>
          <a:prstGeom prst="rect">
            <a:avLst/>
          </a:prstGeom>
        </p:spPr>
      </p:pic>
      <p:pic>
        <p:nvPicPr>
          <p:cNvPr id="12" name="Picture 11" descr="img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52850"/>
            <a:ext cx="10668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85950" y="3753772"/>
            <a:ext cx="1320197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234">
                <a:solidFill>
                  <a:srgbClr val="2D2D2D"/>
                </a:solidFill>
                <a:latin typeface="Futura"/>
                <a:ea typeface="Futura"/>
                <a:cs typeface="Futura"/>
              </a:rPr>
              <a:t>YOUR LENDER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5950" y="3929940"/>
            <a:ext cx="2885515" cy="3886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2D2D2D"/>
                </a:solidFill>
                <a:latin typeface="Playfair Display"/>
                <a:ea typeface="Playfair Display"/>
                <a:cs typeface="Playfair Display"/>
              </a:rPr>
              <a:t>Nate DiGiovanni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5950" y="4359473"/>
            <a:ext cx="3605078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Loan Officer | NMLS #1934694 | Eustis Mortgage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5950" y="4609028"/>
            <a:ext cx="1344891" cy="2057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504.418.3416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4519" y="4635698"/>
            <a:ext cx="1956601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2D2D2D"/>
                </a:solidFill>
                <a:latin typeface="Futura"/>
                <a:ea typeface="Futura"/>
                <a:cs typeface="Futura"/>
              </a:rPr>
              <a:t>| nate@eustismortgage.com</a:t>
            </a:r>
          </a:p>
        </p:txBody>
      </p:sp>
      <p:pic>
        <p:nvPicPr>
          <p:cNvPr id="18" name="Picture 17" descr="img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290" y="37338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8132" y="4710112"/>
            <a:ext cx="1299135" cy="114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50" b="0" i="0" spc="135">
                <a:solidFill>
                  <a:srgbClr val="2D2D2D"/>
                </a:solidFill>
                <a:latin typeface="Futura"/>
                <a:ea typeface="Futura"/>
                <a:cs typeface="Futura"/>
              </a:rPr>
              <a:t>APPLY WITH NATE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2904" y="3733800"/>
            <a:ext cx="9525" cy="1104900"/>
          </a:xfrm>
          <a:prstGeom prst="rect">
            <a:avLst/>
          </a:prstGeom>
          <a:solidFill>
            <a:srgbClr val="CA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979" y="3865245"/>
            <a:ext cx="1420242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234">
                <a:solidFill>
                  <a:srgbClr val="2D2D2D"/>
                </a:solidFill>
                <a:latin typeface="Futura"/>
                <a:ea typeface="Futura"/>
                <a:cs typeface="Futura"/>
              </a:rPr>
              <a:t>FINANCING BY</a:t>
            </a:r>
          </a:p>
        </p:txBody>
      </p:sp>
      <p:pic>
        <p:nvPicPr>
          <p:cNvPr id="22" name="Picture 21" descr="img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979" y="4095750"/>
            <a:ext cx="1648420" cy="628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24808" y="5202287"/>
            <a:ext cx="3148066" cy="114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55555"/>
                </a:solidFill>
                <a:latin typeface="Futura"/>
                <a:ea typeface="Futura"/>
                <a:cs typeface="Futura"/>
              </a:rPr>
              <a:t>Conventional financing offered by Eustis Mortgage Corporation.</a:t>
            </a:r>
          </a:p>
        </p:txBody>
      </p:sp>
      <p:pic>
        <p:nvPicPr>
          <p:cNvPr id="24" name="Picture 23" descr="img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5359449"/>
            <a:ext cx="4191000" cy="24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