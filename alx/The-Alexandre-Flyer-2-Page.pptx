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419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381000"/>
            <a:ext cx="2667000" cy="10962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533400"/>
            <a:ext cx="2247900" cy="79146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4191000"/>
            <a:ext cx="7772400" cy="20383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4505801"/>
            <a:ext cx="3330740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UNCOMMON NEW ORLEANS LIVING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756770"/>
            <a:ext cx="4564880" cy="4953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Designed to be effortless.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379690"/>
            <a:ext cx="6566353" cy="4795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76"/>
              </a:lnSpc>
            </a:pPr>
            <a:r>
              <a:rPr sz="1275" b="0" i="0">
                <a:solidFill>
                  <a:srgbClr val="FFFFFF"/>
                </a:solidFill>
                <a:latin typeface="Jost Light"/>
                <a:ea typeface="Jost Light"/>
                <a:cs typeface="Jost Light"/>
              </a:rPr>
              <a:t>Fully furnished condos with full-size appliances and elevator access, inside a historic building on New Orleans' original Newspaper Row.</a:t>
            </a:r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286500"/>
            <a:ext cx="1900237" cy="1428750"/>
          </a:xfrm>
          <a:prstGeom prst="rect">
            <a:avLst/>
          </a:prstGeom>
        </p:spPr>
      </p:pic>
      <p:pic>
        <p:nvPicPr>
          <p:cNvPr id="11" name="Picture 10" descr="img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7387" y="6286500"/>
            <a:ext cx="1900237" cy="1428750"/>
          </a:xfrm>
          <a:prstGeom prst="rect">
            <a:avLst/>
          </a:prstGeom>
        </p:spPr>
      </p:pic>
      <p:pic>
        <p:nvPicPr>
          <p:cNvPr id="12" name="Picture 11" descr="img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4775" y="6286500"/>
            <a:ext cx="1900237" cy="1428750"/>
          </a:xfrm>
          <a:prstGeom prst="rect">
            <a:avLst/>
          </a:prstGeom>
        </p:spPr>
      </p:pic>
      <p:pic>
        <p:nvPicPr>
          <p:cNvPr id="13" name="Picture 12" descr="img1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2162" y="6286500"/>
            <a:ext cx="1900237" cy="14287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7936230"/>
            <a:ext cx="1103042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AS LITTLE 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7987665"/>
            <a:ext cx="960685" cy="94107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57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8831580"/>
            <a:ext cx="550664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DOWN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6906" y="7924800"/>
            <a:ext cx="5655" cy="106680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89261" y="7980164"/>
            <a:ext cx="5242134" cy="4399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9"/>
              </a:lnSpc>
            </a:pPr>
            <a:r>
              <a:rPr sz="1200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Conventional condo financing for eligible primary‑residence buyers. Second home and investment condo financing also available.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89261" y="8658582"/>
            <a:ext cx="1104462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FINANCING BY</a:t>
            </a:r>
          </a:p>
        </p:txBody>
      </p:sp>
      <p:pic>
        <p:nvPicPr>
          <p:cNvPr id="20" name="Picture 19" descr="img1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64557" y="8517135"/>
            <a:ext cx="1098946" cy="4191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54004" y="8562975"/>
            <a:ext cx="1696212" cy="3256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14"/>
              </a:lnSpc>
            </a:pPr>
            <a:r>
              <a:rPr sz="900" b="0" i="0">
                <a:solidFill>
                  <a:srgbClr val="2D2D2D"/>
                </a:solidFill>
                <a:latin typeface="Jost Light"/>
                <a:ea typeface="Jost Light"/>
                <a:cs typeface="Jost Light"/>
              </a:rPr>
              <a:t>Nate DiGiovanni, Loan Officer</a:t>
            </a:r>
          </a:p>
          <a:p>
            <a:pPr algn="l">
              <a:lnSpc>
                <a:spcPts val="1214"/>
              </a:lnSpc>
            </a:pPr>
            <a:r>
              <a:rPr sz="900" b="0" i="0">
                <a:solidFill>
                  <a:srgbClr val="2D2D2D"/>
                </a:solidFill>
                <a:latin typeface="Jost Light"/>
                <a:ea typeface="Jost Light"/>
                <a:cs typeface="Jost Light"/>
              </a:rPr>
              <a:t>NMLS #1934694 | 504.418.3416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9244012"/>
            <a:ext cx="65532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nap2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9432131"/>
            <a:ext cx="238125" cy="21907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04875" y="9413081"/>
            <a:ext cx="907702" cy="2524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555555"/>
                </a:solidFill>
                <a:latin typeface="Jost Medium"/>
                <a:ea typeface="Jost Medium"/>
                <a:cs typeface="Jost Medium"/>
              </a:rPr>
              <a:t>EQUAL HOUSING</a:t>
            </a:r>
          </a:p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555555"/>
                </a:solidFill>
                <a:latin typeface="Jost Medium"/>
                <a:ea typeface="Jost Medium"/>
                <a:cs typeface="Jost Medium"/>
              </a:rPr>
              <a:t>OPPORTUNITY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8847" y="9339262"/>
            <a:ext cx="5448481" cy="4000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12"/>
              </a:lnSpc>
            </a:pPr>
            <a:r>
              <a:rPr sz="750" b="0" i="0" spc="15">
                <a:solidFill>
                  <a:srgbClr val="555555"/>
                </a:solidFill>
                <a:latin typeface="Jost"/>
                <a:ea typeface="Jost"/>
                <a:cs typeface="Jost"/>
              </a:rPr>
              <a:t>CONVENTIONAL FINANCING OFFERED BY EUSTIS MORTGAGE CORPORATION. NOT A COMMITMENT TO LEND. ALL BORROWERS ARE SUBJECT TO CREDIT APPROVAL. RATES AND TERMS MAY CHANGE AT ANYTIME WITHOUT NOTICE. NMLS #70345. SEE REVERSE FOR PAYMENT EXAMPLE.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772400" cy="251073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4338"/>
            <a:ext cx="378098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CONDO FINANCING AT THE ALEXANDRE</a:t>
            </a:r>
          </a:p>
        </p:txBody>
      </p:sp>
      <p:pic>
        <p:nvPicPr>
          <p:cNvPr id="5" name="Picture 4" descr="img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293" y="285750"/>
            <a:ext cx="1148506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809625"/>
            <a:ext cx="5286622" cy="93151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359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We can finance your condo at The Alexandre.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05880"/>
            <a:ext cx="6883131" cy="4476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Jost Light"/>
                <a:ea typeface="Jost Light"/>
                <a:cs typeface="Jost Light"/>
              </a:rPr>
              <a:t>Eustis Mortgage has conventional financing available for condos in this building. A New Orleans lender since 1956.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750760"/>
            <a:ext cx="1769884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FINANCING OPTIONS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044130"/>
            <a:ext cx="3840360" cy="15049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3328451"/>
            <a:ext cx="985986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AS LITTLE 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3375600"/>
            <a:ext cx="865584" cy="8420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51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128551"/>
            <a:ext cx="501104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6586" y="3446085"/>
            <a:ext cx="1827782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Primary residence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6586" y="3782317"/>
            <a:ext cx="2248679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FFFFFF"/>
                </a:solidFill>
                <a:latin typeface="Jost Light"/>
                <a:ea typeface="Jost Light"/>
                <a:cs typeface="Jost Light"/>
              </a:rPr>
              <a:t>Conventional condo financing for eligible buyers.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02360" y="3044130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02360" y="3739455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02360" y="304413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53126" y="304413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3335" y="3174146"/>
            <a:ext cx="1152420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Second home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3335" y="3454181"/>
            <a:ext cx="1046092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Contact for details.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2360" y="3844230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02360" y="4539555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02360" y="384423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53126" y="384423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83335" y="3974246"/>
            <a:ext cx="1771620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Investment property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3335" y="4254281"/>
            <a:ext cx="1046092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Contact for details.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4771399"/>
            <a:ext cx="1851918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HOW TO GET STARTED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06476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5200024"/>
            <a:ext cx="228600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408131"/>
            <a:ext cx="1388268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Get prequalified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5691485"/>
            <a:ext cx="2073726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Talk with Nate about your budget and the financing options for your plans.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70150" y="506476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70150" y="5200024"/>
            <a:ext cx="243482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70150" y="5408131"/>
            <a:ext cx="1394894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Tour the condos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70150" y="5691485"/>
            <a:ext cx="1991061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See available units at The Alexandre with Desiree McSwain.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30700" y="506476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30700" y="5200024"/>
            <a:ext cx="240208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30700" y="5408131"/>
            <a:ext cx="1742750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Know your numbers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0700" y="5691485"/>
            <a:ext cx="2143613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Review your down payment, monthly payment, and cash to close before you buy.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6459587"/>
            <a:ext cx="4207371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600" y="8415039"/>
            <a:ext cx="4207371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9600" y="6459587"/>
            <a:ext cx="9525" cy="196497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07446" y="6459587"/>
            <a:ext cx="9525" cy="196497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g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75" y="7003851"/>
            <a:ext cx="876300" cy="8763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819275" y="6629608"/>
            <a:ext cx="1027003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YOUR LENDER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19275" y="6777230"/>
            <a:ext cx="1622223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19275" y="7064394"/>
            <a:ext cx="1603923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Jost Light"/>
                <a:ea typeface="Jost Light"/>
                <a:cs typeface="Jost Light"/>
              </a:rPr>
              <a:t>Loan Officer | NMLS #1934694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275" y="7254894"/>
            <a:ext cx="811113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Jost Light"/>
                <a:ea typeface="Jost Light"/>
                <a:cs typeface="Jost Light"/>
              </a:rPr>
              <a:t>Eustis Mortgage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19275" y="7461587"/>
            <a:ext cx="866179" cy="17335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504.418.3416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19275" y="7672566"/>
            <a:ext cx="1401362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Jost Light"/>
                <a:ea typeface="Jost Light"/>
                <a:cs typeface="Jost Light"/>
              </a:rPr>
              <a:t>nate@eustismortgage.com</a:t>
            </a:r>
          </a:p>
        </p:txBody>
      </p:sp>
      <p:pic>
        <p:nvPicPr>
          <p:cNvPr id="51" name="Picture 50" descr="img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9275" y="7938789"/>
            <a:ext cx="849213" cy="323850"/>
          </a:xfrm>
          <a:prstGeom prst="rect">
            <a:avLst/>
          </a:prstGeom>
        </p:spPr>
      </p:pic>
      <p:pic>
        <p:nvPicPr>
          <p:cNvPr id="52" name="Picture 51" descr="img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8619" y="6918126"/>
            <a:ext cx="876300" cy="8763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3677542" y="7848242"/>
            <a:ext cx="1015960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22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APPLY WITH NATE</a:t>
            </a:r>
          </a:p>
        </p:txBody>
      </p:sp>
      <p:pic>
        <p:nvPicPr>
          <p:cNvPr id="54" name="Picture 53" descr="img7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6521" y="6799064"/>
            <a:ext cx="571500" cy="5715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5712321" y="6802397"/>
            <a:ext cx="1361449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TOURS AND UNITS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12321" y="6965275"/>
            <a:ext cx="1319328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12321" y="7204352"/>
            <a:ext cx="783133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Jost Light"/>
                <a:ea typeface="Jost Light"/>
                <a:cs typeface="Jost Light"/>
              </a:rPr>
              <a:t>504-232-8199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6521" y="7432952"/>
            <a:ext cx="1808693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pic>
        <p:nvPicPr>
          <p:cNvPr id="59" name="Picture 58" descr="img8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6521" y="7689651"/>
            <a:ext cx="1272778" cy="4000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609600" y="8635454"/>
            <a:ext cx="65532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8748325"/>
            <a:ext cx="2557411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555555"/>
                </a:solidFill>
                <a:latin typeface="Jost Medium"/>
                <a:ea typeface="Jost Medium"/>
                <a:cs typeface="Jost Medium"/>
              </a:rPr>
              <a:t>FINANCING BY EUSTIS MORTGAGE</a:t>
            </a:r>
          </a:p>
        </p:txBody>
      </p:sp>
      <p:pic>
        <p:nvPicPr>
          <p:cNvPr id="62" name="Picture 61" descr="snap2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9042648"/>
            <a:ext cx="238125" cy="219075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904875" y="9023598"/>
            <a:ext cx="907702" cy="2524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555555"/>
                </a:solidFill>
                <a:latin typeface="Jost Medium"/>
                <a:ea typeface="Jost Medium"/>
                <a:cs typeface="Jost Medium"/>
              </a:rPr>
              <a:t>EQUAL HOUSING</a:t>
            </a:r>
          </a:p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555555"/>
                </a:solidFill>
                <a:latin typeface="Jost Medium"/>
                <a:ea typeface="Jost Medium"/>
                <a:cs typeface="Jost Medium"/>
              </a:rPr>
              <a:t>OPPORTUNITY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69442" y="8949779"/>
            <a:ext cx="5448481" cy="4000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12"/>
              </a:lnSpc>
            </a:pPr>
            <a:r>
              <a:rPr sz="750" b="0" i="0" spc="15">
                <a:solidFill>
                  <a:srgbClr val="555555"/>
                </a:solidFill>
                <a:latin typeface="Jost"/>
                <a:ea typeface="Jost"/>
                <a:cs typeface="Jost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9600" y="9402216"/>
            <a:ext cx="6871614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7"/>
              </a:lnSpc>
            </a:pPr>
            <a:r>
              <a:rPr sz="712" b="0" i="0">
                <a:solidFill>
                  <a:srgbClr val="555555"/>
                </a:solidFill>
                <a:latin typeface="Jost"/>
                <a:ea typeface="Jost"/>
                <a:cs typeface="Jost"/>
              </a:rPr>
              <a:t>Payment example: For a sales price of $365,000 with 5% down, a loan amount of $346,750 on a 30-year fixed conventional loan at a 7.500% interest rate (8.000% APR) would have 360 monthly principal and interest payments of approximately $2,424.53. Payment shown is principal and interest only and excludes taxes, insurance, PMI, and HOA dues; the actual payment will be higher. Rates are for example only, are not a quote, and are subject to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