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4191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381000"/>
            <a:ext cx="2667000" cy="10962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533400"/>
            <a:ext cx="2247900" cy="79146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191000"/>
            <a:ext cx="7772400" cy="203835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505801"/>
            <a:ext cx="3393584" cy="16097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975" b="0" i="0" spc="292">
                <a:solidFill>
                  <a:srgbClr val="FFFFFF"/>
                </a:solidFill>
                <a:latin typeface="Jost"/>
                <a:ea typeface="Jost"/>
                <a:cs typeface="Jost"/>
              </a:rPr>
              <a:t>UNCOMMON NEW ORLEANS LIVING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756770"/>
            <a:ext cx="4651009" cy="4953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</a:rPr>
              <a:t>Designed to be effortless.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379690"/>
            <a:ext cx="6690246" cy="4795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76"/>
              </a:lnSpc>
            </a:pPr>
            <a:r>
              <a:rPr sz="1275" b="0" i="0">
                <a:solidFill>
                  <a:srgbClr val="FFFFFF"/>
                </a:solidFill>
                <a:latin typeface="Jost"/>
                <a:ea typeface="Jost"/>
                <a:cs typeface="Jost"/>
              </a:rPr>
              <a:t>Fully furnished condos with full-size appliances and elevator access, inside a historic building on New Orleans' original Newspaper Row.</a:t>
            </a:r>
          </a:p>
        </p:txBody>
      </p:sp>
      <p:pic>
        <p:nvPicPr>
          <p:cNvPr id="10" name="Picture 9" descr="img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86500"/>
            <a:ext cx="1900237" cy="1428750"/>
          </a:xfrm>
          <a:prstGeom prst="rect">
            <a:avLst/>
          </a:prstGeom>
        </p:spPr>
      </p:pic>
      <p:pic>
        <p:nvPicPr>
          <p:cNvPr id="11" name="Picture 10" descr="img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7387" y="6286500"/>
            <a:ext cx="1900237" cy="1428750"/>
          </a:xfrm>
          <a:prstGeom prst="rect">
            <a:avLst/>
          </a:prstGeom>
        </p:spPr>
      </p:pic>
      <p:pic>
        <p:nvPicPr>
          <p:cNvPr id="12" name="Picture 11" descr="img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4775" y="6286500"/>
            <a:ext cx="1900237" cy="1428750"/>
          </a:xfrm>
          <a:prstGeom prst="rect">
            <a:avLst/>
          </a:prstGeom>
        </p:spPr>
      </p:pic>
      <p:pic>
        <p:nvPicPr>
          <p:cNvPr id="13" name="Picture 12" descr="img1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2162" y="6286500"/>
            <a:ext cx="1900237" cy="14287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7936230"/>
            <a:ext cx="1123854" cy="14859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900" b="0" i="0" spc="234">
                <a:solidFill>
                  <a:srgbClr val="2D2D2D"/>
                </a:solidFill>
                <a:latin typeface="Jost"/>
                <a:ea typeface="Jost"/>
                <a:cs typeface="Jost"/>
              </a:rPr>
              <a:t>AS LITTLE 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987665"/>
            <a:ext cx="979735" cy="94107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5700" b="0" i="0">
                <a:solidFill>
                  <a:srgbClr val="2D2D2D"/>
                </a:solidFill>
                <a:latin typeface="Playfair Display"/>
                <a:ea typeface="Playfair Display"/>
                <a:cs typeface="Playfair Display"/>
              </a:rPr>
              <a:t>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8831580"/>
            <a:ext cx="569714" cy="14859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900" b="0" i="0" spc="234">
                <a:solidFill>
                  <a:srgbClr val="2D2D2D"/>
                </a:solidFill>
                <a:latin typeface="Jost"/>
                <a:ea typeface="Jost"/>
                <a:cs typeface="Jost"/>
              </a:rPr>
              <a:t>DOWN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16906" y="7924800"/>
            <a:ext cx="5655" cy="1066800"/>
          </a:xfrm>
          <a:prstGeom prst="rect">
            <a:avLst/>
          </a:prstGeom>
          <a:solidFill>
            <a:srgbClr val="CA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89261" y="7980164"/>
            <a:ext cx="5341042" cy="43993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</a:pPr>
            <a:r>
              <a:rPr sz="1200" b="0" i="0">
                <a:solidFill>
                  <a:srgbClr val="2D2D2D"/>
                </a:solidFill>
                <a:latin typeface="Jost"/>
                <a:ea typeface="Jost"/>
                <a:cs typeface="Jost"/>
              </a:rPr>
              <a:t>Conventional condo financing for eligible primary‑residence buyers. Second home and investment condo financing also available.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89261" y="8658582"/>
            <a:ext cx="1125301" cy="13620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825" b="0" i="0" spc="198">
                <a:solidFill>
                  <a:srgbClr val="2D2D2D"/>
                </a:solidFill>
                <a:latin typeface="Jost"/>
                <a:ea typeface="Jost"/>
                <a:cs typeface="Jost"/>
              </a:rPr>
              <a:t>FINANCING BY</a:t>
            </a:r>
          </a:p>
        </p:txBody>
      </p:sp>
      <p:pic>
        <p:nvPicPr>
          <p:cNvPr id="20" name="Picture 19" descr="img1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4557" y="8517135"/>
            <a:ext cx="1098946" cy="4191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654004" y="8562975"/>
            <a:ext cx="1728216" cy="32563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14"/>
              </a:lnSpc>
            </a:pPr>
            <a:r>
              <a:rPr sz="900" b="0" i="0">
                <a:solidFill>
                  <a:srgbClr val="2D2D2D"/>
                </a:solidFill>
                <a:latin typeface="Jost"/>
                <a:ea typeface="Jost"/>
                <a:cs typeface="Jost"/>
              </a:rPr>
              <a:t>Nate DiGiovanni, Loan Officer</a:t>
            </a:r>
          </a:p>
          <a:p>
            <a:pPr algn="l">
              <a:lnSpc>
                <a:spcPts val="1214"/>
              </a:lnSpc>
            </a:pPr>
            <a:r>
              <a:rPr sz="900" b="0" i="0">
                <a:solidFill>
                  <a:srgbClr val="2D2D2D"/>
                </a:solidFill>
                <a:latin typeface="Jost"/>
                <a:ea typeface="Jost"/>
                <a:cs typeface="Jost"/>
              </a:rPr>
              <a:t>NMLS #1934694 | 504.418.3416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9244012"/>
            <a:ext cx="6553200" cy="9525"/>
          </a:xfrm>
          <a:prstGeom prst="rect">
            <a:avLst/>
          </a:prstGeom>
          <a:solidFill>
            <a:srgbClr val="CA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nap2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9432131"/>
            <a:ext cx="238125" cy="2190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04875" y="9413081"/>
            <a:ext cx="926752" cy="2524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62"/>
              </a:lnSpc>
            </a:pPr>
            <a:r>
              <a:rPr sz="750" b="0" i="0" spc="45">
                <a:solidFill>
                  <a:srgbClr val="555555"/>
                </a:solidFill>
                <a:latin typeface="Jost"/>
                <a:ea typeface="Jost"/>
                <a:cs typeface="Jost"/>
              </a:rPr>
              <a:t>EQUAL HOUSING</a:t>
            </a:r>
          </a:p>
          <a:p>
            <a:pPr algn="l">
              <a:lnSpc>
                <a:spcPts val="862"/>
              </a:lnSpc>
            </a:pPr>
            <a:r>
              <a:rPr sz="750" b="0" i="0" spc="45">
                <a:solidFill>
                  <a:srgbClr val="555555"/>
                </a:solidFill>
                <a:latin typeface="Jost"/>
                <a:ea typeface="Jost"/>
                <a:cs typeface="Jost"/>
              </a:rPr>
              <a:t>OPPORTUNITY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8847" y="9339262"/>
            <a:ext cx="5551283" cy="4000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012"/>
              </a:lnSpc>
            </a:pPr>
            <a:r>
              <a:rPr sz="750" b="0" i="0" spc="15">
                <a:solidFill>
                  <a:srgbClr val="555555"/>
                </a:solidFill>
                <a:latin typeface="Jost"/>
                <a:ea typeface="Jost"/>
                <a:cs typeface="Jost"/>
              </a:rPr>
              <a:t>CONVENTIONAL FINANCING OFFERED BY EUSTIS MORTGAGE CORPORATION. NOT A COMMITMENT TO LEND. ALL BORROWERS ARE SUBJECT TO CREDIT APPROVAL. RATES AND TERMS MAY CHANGE AT ANYTIME WITHOUT NOTICE. NMLS #70345. SEE REVERSE FOR PAYMENT EXAMPLE.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251073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4338"/>
            <a:ext cx="3852320" cy="16097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975" b="0" i="0" spc="292">
                <a:solidFill>
                  <a:srgbClr val="FFFFFF"/>
                </a:solidFill>
                <a:latin typeface="Jost"/>
                <a:ea typeface="Jost"/>
                <a:cs typeface="Jost"/>
              </a:rPr>
              <a:t>CONDO FINANCING AT THE ALEXANDRE</a:t>
            </a:r>
          </a:p>
        </p:txBody>
      </p:sp>
      <p:pic>
        <p:nvPicPr>
          <p:cNvPr id="5" name="Picture 4" descr="img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293" y="285750"/>
            <a:ext cx="1148506" cy="4381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809625"/>
            <a:ext cx="5386369" cy="93151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359"/>
              </a:lnSpc>
            </a:pPr>
            <a:r>
              <a:rPr sz="3000" b="0" i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</a:rPr>
              <a:t>We can finance your condo at The Alexandre.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805880"/>
            <a:ext cx="7013001" cy="4476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Jost"/>
                <a:ea typeface="Jost"/>
                <a:cs typeface="Jost"/>
              </a:rPr>
              <a:t>Eustis Mortgage has conventional financing available for condos in this building. A New Orleans lender since 1956.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750760"/>
            <a:ext cx="1803278" cy="14859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900" b="0" i="0" spc="234">
                <a:solidFill>
                  <a:srgbClr val="2D2D2D"/>
                </a:solidFill>
                <a:latin typeface="Jost"/>
                <a:ea typeface="Jost"/>
                <a:cs typeface="Jost"/>
              </a:rPr>
              <a:t>FINANCING OPTIONS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3044130"/>
            <a:ext cx="3840360" cy="150495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3328451"/>
            <a:ext cx="1005036" cy="13620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825" b="0" i="0" spc="198">
                <a:solidFill>
                  <a:srgbClr val="FFFFFF"/>
                </a:solidFill>
                <a:latin typeface="Jost"/>
                <a:ea typeface="Jost"/>
                <a:cs typeface="Jost"/>
              </a:rPr>
              <a:t>AS LITTLE 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375600"/>
            <a:ext cx="884634" cy="84201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5100" b="0" i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</a:rPr>
              <a:t>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128551"/>
            <a:ext cx="520154" cy="13620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825" b="0" i="0" spc="198">
                <a:solidFill>
                  <a:srgbClr val="FFFFFF"/>
                </a:solidFill>
                <a:latin typeface="Jost"/>
                <a:ea typeface="Jost"/>
                <a:cs typeface="Jost"/>
              </a:rPr>
              <a:t>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76586" y="3446085"/>
            <a:ext cx="1862268" cy="27241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</a:rPr>
              <a:t>Primary residence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6586" y="3782317"/>
            <a:ext cx="2291107" cy="3667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62"/>
              </a:lnSpc>
            </a:pPr>
            <a:r>
              <a:rPr sz="975" b="0" i="0">
                <a:solidFill>
                  <a:srgbClr val="FFFFFF"/>
                </a:solidFill>
                <a:latin typeface="Jost"/>
                <a:ea typeface="Jost"/>
                <a:cs typeface="Jost"/>
              </a:rPr>
              <a:t>Conventional condo financing for eligible buyers.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02360" y="3044130"/>
            <a:ext cx="2560290" cy="9525"/>
          </a:xfrm>
          <a:prstGeom prst="rect">
            <a:avLst/>
          </a:prstGeom>
          <a:solidFill>
            <a:srgbClr val="CA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02360" y="3739455"/>
            <a:ext cx="2560290" cy="9525"/>
          </a:xfrm>
          <a:prstGeom prst="rect">
            <a:avLst/>
          </a:prstGeom>
          <a:solidFill>
            <a:srgbClr val="CA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02360" y="3044130"/>
            <a:ext cx="9525" cy="704850"/>
          </a:xfrm>
          <a:prstGeom prst="rect">
            <a:avLst/>
          </a:prstGeom>
          <a:solidFill>
            <a:srgbClr val="CA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53126" y="3044130"/>
            <a:ext cx="9525" cy="704850"/>
          </a:xfrm>
          <a:prstGeom prst="rect">
            <a:avLst/>
          </a:prstGeom>
          <a:solidFill>
            <a:srgbClr val="CA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83335" y="3174146"/>
            <a:ext cx="1174164" cy="23526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425" b="0" i="0">
                <a:solidFill>
                  <a:srgbClr val="2D2D2D"/>
                </a:solidFill>
                <a:latin typeface="Playfair Display"/>
                <a:ea typeface="Playfair Display"/>
                <a:cs typeface="Playfair Display"/>
              </a:rPr>
              <a:t>Second home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3335" y="3454181"/>
            <a:ext cx="1065829" cy="16097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975" b="0" i="0">
                <a:solidFill>
                  <a:srgbClr val="2D2D2D"/>
                </a:solidFill>
                <a:latin typeface="Jost"/>
                <a:ea typeface="Jost"/>
                <a:cs typeface="Jost"/>
              </a:rPr>
              <a:t>Contact for details.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2360" y="3844230"/>
            <a:ext cx="2560290" cy="9525"/>
          </a:xfrm>
          <a:prstGeom prst="rect">
            <a:avLst/>
          </a:prstGeom>
          <a:solidFill>
            <a:srgbClr val="CA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2360" y="4539555"/>
            <a:ext cx="2560290" cy="9525"/>
          </a:xfrm>
          <a:prstGeom prst="rect">
            <a:avLst/>
          </a:prstGeom>
          <a:solidFill>
            <a:srgbClr val="CA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02360" y="3844230"/>
            <a:ext cx="9525" cy="704850"/>
          </a:xfrm>
          <a:prstGeom prst="rect">
            <a:avLst/>
          </a:prstGeom>
          <a:solidFill>
            <a:srgbClr val="CA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53126" y="3844230"/>
            <a:ext cx="9525" cy="704850"/>
          </a:xfrm>
          <a:prstGeom prst="rect">
            <a:avLst/>
          </a:prstGeom>
          <a:solidFill>
            <a:srgbClr val="CA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83335" y="3974246"/>
            <a:ext cx="1805047" cy="23526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425" b="0" i="0">
                <a:solidFill>
                  <a:srgbClr val="2D2D2D"/>
                </a:solidFill>
                <a:latin typeface="Playfair Display"/>
                <a:ea typeface="Playfair Display"/>
                <a:cs typeface="Playfair Display"/>
              </a:rPr>
              <a:t>Investment property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3335" y="4254281"/>
            <a:ext cx="1065829" cy="16097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975" b="0" i="0">
                <a:solidFill>
                  <a:srgbClr val="2D2D2D"/>
                </a:solidFill>
                <a:latin typeface="Jost"/>
                <a:ea typeface="Jost"/>
                <a:cs typeface="Jost"/>
              </a:rPr>
              <a:t>Contact for details.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4771399"/>
            <a:ext cx="1886860" cy="14859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900" b="0" i="0" spc="234">
                <a:solidFill>
                  <a:srgbClr val="2D2D2D"/>
                </a:solidFill>
                <a:latin typeface="Jost"/>
                <a:ea typeface="Jost"/>
                <a:cs typeface="Jost"/>
              </a:rPr>
              <a:t>HOW TO GET STARTED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600" y="5064769"/>
            <a:ext cx="2031950" cy="9525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600" y="5200024"/>
            <a:ext cx="247650" cy="14859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900" b="0" i="0" spc="180">
                <a:solidFill>
                  <a:srgbClr val="2D2D2D"/>
                </a:solidFill>
                <a:latin typeface="Jost"/>
                <a:ea typeface="Jost"/>
                <a:cs typeface="Jost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5408131"/>
            <a:ext cx="1414462" cy="23526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425" b="0" i="0">
                <a:solidFill>
                  <a:srgbClr val="2D2D2D"/>
                </a:solidFill>
                <a:latin typeface="Playfair Display"/>
                <a:ea typeface="Playfair Display"/>
                <a:cs typeface="Playfair Display"/>
              </a:rPr>
              <a:t>Get prequalified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5691485"/>
            <a:ext cx="2112853" cy="3667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62"/>
              </a:lnSpc>
            </a:pPr>
            <a:r>
              <a:rPr sz="975" b="0" i="0">
                <a:solidFill>
                  <a:srgbClr val="2D2D2D"/>
                </a:solidFill>
                <a:latin typeface="Jost"/>
                <a:ea typeface="Jost"/>
                <a:cs typeface="Jost"/>
              </a:rPr>
              <a:t>Talk with Nate about your budget and the financing options for your plans.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70150" y="5064769"/>
            <a:ext cx="2031950" cy="9525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70150" y="5200024"/>
            <a:ext cx="262532" cy="14859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900" b="0" i="0" spc="180">
                <a:solidFill>
                  <a:srgbClr val="2D2D2D"/>
                </a:solidFill>
                <a:latin typeface="Jost"/>
                <a:ea typeface="Jost"/>
                <a:cs typeface="Jost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70150" y="5408131"/>
            <a:ext cx="1421213" cy="23526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425" b="0" i="0">
                <a:solidFill>
                  <a:srgbClr val="2D2D2D"/>
                </a:solidFill>
                <a:latin typeface="Playfair Display"/>
                <a:ea typeface="Playfair Display"/>
                <a:cs typeface="Playfair Display"/>
              </a:rPr>
              <a:t>Tour the condos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70150" y="5691485"/>
            <a:ext cx="2028628" cy="3667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62"/>
              </a:lnSpc>
            </a:pPr>
            <a:r>
              <a:rPr sz="975" b="0" i="0">
                <a:solidFill>
                  <a:srgbClr val="2D2D2D"/>
                </a:solidFill>
                <a:latin typeface="Jost"/>
                <a:ea typeface="Jost"/>
                <a:cs typeface="Jost"/>
              </a:rPr>
              <a:t>See available units at The Alexandre with Desiree McSwain.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30700" y="5064769"/>
            <a:ext cx="2031950" cy="9525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30700" y="5200024"/>
            <a:ext cx="259258" cy="14859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900" b="0" i="0" spc="180">
                <a:solidFill>
                  <a:srgbClr val="2D2D2D"/>
                </a:solidFill>
                <a:latin typeface="Jost"/>
                <a:ea typeface="Jost"/>
                <a:cs typeface="Jost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0700" y="5408131"/>
            <a:ext cx="1775632" cy="23526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425" b="0" i="0">
                <a:solidFill>
                  <a:srgbClr val="2D2D2D"/>
                </a:solidFill>
                <a:latin typeface="Playfair Display"/>
                <a:ea typeface="Playfair Display"/>
                <a:cs typeface="Playfair Display"/>
              </a:rPr>
              <a:t>Know your numbers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30700" y="5691485"/>
            <a:ext cx="2184058" cy="552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62"/>
              </a:lnSpc>
            </a:pPr>
            <a:r>
              <a:rPr sz="975" b="0" i="0">
                <a:solidFill>
                  <a:srgbClr val="2D2D2D"/>
                </a:solidFill>
                <a:latin typeface="Jost"/>
                <a:ea typeface="Jost"/>
                <a:cs typeface="Jost"/>
              </a:rPr>
              <a:t>Review your down payment, monthly payment, and cash to close before you buy.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600" y="6459587"/>
            <a:ext cx="4207371" cy="9525"/>
          </a:xfrm>
          <a:prstGeom prst="rect">
            <a:avLst/>
          </a:prstGeom>
          <a:solidFill>
            <a:srgbClr val="CA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600" y="8415039"/>
            <a:ext cx="4207371" cy="9525"/>
          </a:xfrm>
          <a:prstGeom prst="rect">
            <a:avLst/>
          </a:prstGeom>
          <a:solidFill>
            <a:srgbClr val="CA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9600" y="6459587"/>
            <a:ext cx="9525" cy="1964977"/>
          </a:xfrm>
          <a:prstGeom prst="rect">
            <a:avLst/>
          </a:prstGeom>
          <a:solidFill>
            <a:srgbClr val="CA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807446" y="6459587"/>
            <a:ext cx="9525" cy="1964977"/>
          </a:xfrm>
          <a:prstGeom prst="rect">
            <a:avLst/>
          </a:prstGeom>
          <a:solidFill>
            <a:srgbClr val="CA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g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7003851"/>
            <a:ext cx="876300" cy="8763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819275" y="6629608"/>
            <a:ext cx="1046380" cy="13620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825" b="0" i="0" spc="198">
                <a:solidFill>
                  <a:srgbClr val="2D2D2D"/>
                </a:solidFill>
                <a:latin typeface="Jost"/>
                <a:ea typeface="Jost"/>
                <a:cs typeface="Jost"/>
              </a:rPr>
              <a:t>YOUR LENDER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19275" y="6777230"/>
            <a:ext cx="1652831" cy="27241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2D2D2D"/>
                </a:solidFill>
                <a:latin typeface="Playfair Display"/>
                <a:ea typeface="Playfair Display"/>
                <a:cs typeface="Playfair Display"/>
              </a:rPr>
              <a:t>Nate DiGiovanni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19275" y="7064394"/>
            <a:ext cx="1634186" cy="14859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D2D2D"/>
                </a:solidFill>
                <a:latin typeface="Jost"/>
                <a:ea typeface="Jost"/>
                <a:cs typeface="Jost"/>
              </a:rPr>
              <a:t>Loan Officer | NMLS #1934694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19275" y="7254894"/>
            <a:ext cx="830163" cy="14859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D2D2D"/>
                </a:solidFill>
                <a:latin typeface="Jost"/>
                <a:ea typeface="Jost"/>
                <a:cs typeface="Jost"/>
              </a:rPr>
              <a:t>Eustis Mortgage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19275" y="7461587"/>
            <a:ext cx="885229" cy="17335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D2D2D"/>
                </a:solidFill>
                <a:latin typeface="Jost"/>
                <a:ea typeface="Jost"/>
                <a:cs typeface="Jost"/>
              </a:rPr>
              <a:t>504.418.3416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19275" y="7672566"/>
            <a:ext cx="1427803" cy="16097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975" b="0" i="0">
                <a:solidFill>
                  <a:srgbClr val="2D2D2D"/>
                </a:solidFill>
                <a:latin typeface="Jost"/>
                <a:ea typeface="Jost"/>
                <a:cs typeface="Jost"/>
              </a:rPr>
              <a:t>nate@eustismortgage.com</a:t>
            </a:r>
          </a:p>
        </p:txBody>
      </p:sp>
      <p:pic>
        <p:nvPicPr>
          <p:cNvPr id="51" name="Picture 50" descr="img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275" y="7938789"/>
            <a:ext cx="849213" cy="323850"/>
          </a:xfrm>
          <a:prstGeom prst="rect">
            <a:avLst/>
          </a:prstGeom>
        </p:spPr>
      </p:pic>
      <p:pic>
        <p:nvPicPr>
          <p:cNvPr id="52" name="Picture 51" descr="img7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8619" y="6918126"/>
            <a:ext cx="876300" cy="8763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3677542" y="7848242"/>
            <a:ext cx="1035129" cy="11144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75" b="0" i="0" spc="122">
                <a:solidFill>
                  <a:srgbClr val="2D2D2D"/>
                </a:solidFill>
                <a:latin typeface="Jost"/>
                <a:ea typeface="Jost"/>
                <a:cs typeface="Jost"/>
              </a:rPr>
              <a:t>APPLY WITH NATE</a:t>
            </a:r>
          </a:p>
        </p:txBody>
      </p:sp>
      <p:pic>
        <p:nvPicPr>
          <p:cNvPr id="54" name="Picture 53" descr="img7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6521" y="6799064"/>
            <a:ext cx="571500" cy="5715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712321" y="6802397"/>
            <a:ext cx="1387137" cy="13620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825" b="0" i="0" spc="198">
                <a:solidFill>
                  <a:srgbClr val="2D2D2D"/>
                </a:solidFill>
                <a:latin typeface="Jost"/>
                <a:ea typeface="Jost"/>
                <a:cs typeface="Jost"/>
              </a:rPr>
              <a:t>TOURS AND UNITS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12321" y="6965275"/>
            <a:ext cx="1344221" cy="21050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2D2D2D"/>
                </a:solidFill>
                <a:latin typeface="Playfair Display"/>
                <a:ea typeface="Playfair Display"/>
                <a:cs typeface="Playfair Display"/>
              </a:rPr>
              <a:t>Desiree McSwain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12321" y="7204352"/>
            <a:ext cx="802183" cy="16097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975" b="0" i="0">
                <a:solidFill>
                  <a:srgbClr val="2D2D2D"/>
                </a:solidFill>
                <a:latin typeface="Jost"/>
                <a:ea typeface="Jost"/>
                <a:cs typeface="Jost"/>
              </a:rPr>
              <a:t>504-232-8199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6521" y="7432952"/>
            <a:ext cx="1842819" cy="16097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975" b="0" i="0">
                <a:solidFill>
                  <a:srgbClr val="2D2D2D"/>
                </a:solidFill>
                <a:latin typeface="Playfair Display"/>
                <a:ea typeface="Playfair Display"/>
                <a:cs typeface="Playfair Display"/>
              </a:rPr>
              <a:t>coolmurphy.com/thealexandre</a:t>
            </a:r>
          </a:p>
        </p:txBody>
      </p:sp>
      <p:pic>
        <p:nvPicPr>
          <p:cNvPr id="59" name="Picture 58" descr="img8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6521" y="7689651"/>
            <a:ext cx="1272778" cy="40005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609600" y="8635454"/>
            <a:ext cx="6553200" cy="9525"/>
          </a:xfrm>
          <a:prstGeom prst="rect">
            <a:avLst/>
          </a:prstGeom>
          <a:solidFill>
            <a:srgbClr val="CA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9600" y="8748325"/>
            <a:ext cx="2605664" cy="13620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825" b="0" i="0" spc="198">
                <a:solidFill>
                  <a:srgbClr val="555555"/>
                </a:solidFill>
                <a:latin typeface="Jost"/>
                <a:ea typeface="Jost"/>
                <a:cs typeface="Jost"/>
              </a:rPr>
              <a:t>FINANCING BY EUSTIS MORTGAGE</a:t>
            </a:r>
          </a:p>
        </p:txBody>
      </p:sp>
      <p:pic>
        <p:nvPicPr>
          <p:cNvPr id="62" name="Picture 61" descr="snap2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9042648"/>
            <a:ext cx="238125" cy="219075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904875" y="9023598"/>
            <a:ext cx="926752" cy="2524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62"/>
              </a:lnSpc>
            </a:pPr>
            <a:r>
              <a:rPr sz="750" b="0" i="0" spc="45">
                <a:solidFill>
                  <a:srgbClr val="555555"/>
                </a:solidFill>
                <a:latin typeface="Jost"/>
                <a:ea typeface="Jost"/>
                <a:cs typeface="Jost"/>
              </a:rPr>
              <a:t>EQUAL HOUSING</a:t>
            </a:r>
          </a:p>
          <a:p>
            <a:pPr algn="l">
              <a:lnSpc>
                <a:spcPts val="862"/>
              </a:lnSpc>
            </a:pPr>
            <a:r>
              <a:rPr sz="750" b="0" i="0" spc="45">
                <a:solidFill>
                  <a:srgbClr val="555555"/>
                </a:solidFill>
                <a:latin typeface="Jost"/>
                <a:ea typeface="Jost"/>
                <a:cs typeface="Jost"/>
              </a:rPr>
              <a:t>OPPORTUNITY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69442" y="8949779"/>
            <a:ext cx="5551283" cy="4000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012"/>
              </a:lnSpc>
            </a:pPr>
            <a:r>
              <a:rPr sz="750" b="0" i="0" spc="15">
                <a:solidFill>
                  <a:srgbClr val="555555"/>
                </a:solidFill>
                <a:latin typeface="Jost"/>
                <a:ea typeface="Jost"/>
                <a:cs typeface="Jost"/>
              </a:rPr>
              <a:t>CONVENTIONAL FINANCING OFFERED BY EUSTIS MORTGAGE CORPORATION. NOT A COMMITMENT TO LEND. ALL BORROWERS ARE SUBJECT TO CREDIT APPROVAL. RATES AND TERMS MAY CHANGE AT ANYTIME WITHOUT NOTICE. NMLS #70345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9600" y="9402216"/>
            <a:ext cx="7001267" cy="386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7"/>
              </a:lnSpc>
            </a:pPr>
            <a:r>
              <a:rPr sz="712" b="0" i="0">
                <a:solidFill>
                  <a:srgbClr val="555555"/>
                </a:solidFill>
                <a:latin typeface="Jost"/>
                <a:ea typeface="Jost"/>
                <a:cs typeface="Jost"/>
              </a:rPr>
              <a:t>Payment example: For a sales price of $365,000 with 5% down, a loan amount of $346,750 on a 30-year fixed conventional loan at a 7.500% interest rate (8.000% APR) would have 360 monthly principal and interest payments of approximately $2,424.53. Payment shown is principal and interest only and excludes taxes, insurance, PMI, and HOA dues; the actual payment will be higher. Rates are for example only, are not a quote, and are subject to change.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