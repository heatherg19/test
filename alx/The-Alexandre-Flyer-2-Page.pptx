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7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0" cy="10058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772400" cy="4191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7200" y="381000"/>
            <a:ext cx="2667000" cy="10962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g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" y="533400"/>
            <a:ext cx="2247900" cy="79146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4191000"/>
            <a:ext cx="7772400" cy="203835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4511992"/>
            <a:ext cx="3833494" cy="1485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75" b="0" i="0" spc="292">
                <a:solidFill>
                  <a:srgbClr val="FFFFFF"/>
                </a:solidFill>
                <a:latin typeface="Futura"/>
                <a:ea typeface="Futura"/>
                <a:cs typeface="Futura"/>
              </a:rPr>
              <a:t>UNCOMMON NEW ORLEANS LIVING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4775820"/>
            <a:ext cx="5253918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Designed to be effortless.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379690"/>
            <a:ext cx="6566353" cy="4795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76"/>
              </a:lnSpc>
            </a:pPr>
            <a:r>
              <a:rPr sz="1275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Fully furnished condos with full-size appliances and elevator access, inside a historic building on New Orleans' original Newspaper Row.</a:t>
            </a:r>
          </a:p>
        </p:txBody>
      </p:sp>
      <p:pic>
        <p:nvPicPr>
          <p:cNvPr id="10" name="Picture 9" descr="img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286500"/>
            <a:ext cx="1900237" cy="1428750"/>
          </a:xfrm>
          <a:prstGeom prst="rect">
            <a:avLst/>
          </a:prstGeom>
        </p:spPr>
      </p:pic>
      <p:pic>
        <p:nvPicPr>
          <p:cNvPr id="11" name="Picture 10" descr="img1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57387" y="6286500"/>
            <a:ext cx="1900237" cy="1428750"/>
          </a:xfrm>
          <a:prstGeom prst="rect">
            <a:avLst/>
          </a:prstGeom>
        </p:spPr>
      </p:pic>
      <p:pic>
        <p:nvPicPr>
          <p:cNvPr id="12" name="Picture 11" descr="img1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14775" y="6286500"/>
            <a:ext cx="1900237" cy="1428750"/>
          </a:xfrm>
          <a:prstGeom prst="rect">
            <a:avLst/>
          </a:prstGeom>
        </p:spPr>
      </p:pic>
      <p:pic>
        <p:nvPicPr>
          <p:cNvPr id="13" name="Picture 12" descr="img1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72162" y="6286500"/>
            <a:ext cx="1900237" cy="14287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9600" y="7941945"/>
            <a:ext cx="1269539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" b="0" i="0" spc="234">
                <a:solidFill>
                  <a:srgbClr val="2D2D2D"/>
                </a:solidFill>
                <a:latin typeface="Futura"/>
                <a:ea typeface="Futura"/>
                <a:cs typeface="Futura"/>
              </a:rPr>
              <a:t>AS LITTLE 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8023860"/>
            <a:ext cx="1102313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570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8837295"/>
            <a:ext cx="602087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" b="0" i="0" spc="234">
                <a:solidFill>
                  <a:srgbClr val="2D2D2D"/>
                </a:solidFill>
                <a:latin typeface="Futura"/>
                <a:ea typeface="Futura"/>
                <a:cs typeface="Futura"/>
              </a:rPr>
              <a:t>DOWN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16906" y="7924800"/>
            <a:ext cx="5655" cy="1066800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89261" y="7980164"/>
            <a:ext cx="5242134" cy="43993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9"/>
              </a:lnSpc>
            </a:pPr>
            <a:r>
              <a:rPr sz="120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Conventional condo financing for eligible primary‑residence buyers. Second home and investment condo financing also available.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89261" y="8663820"/>
            <a:ext cx="1271173" cy="1257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25" b="0" i="0" spc="198">
                <a:solidFill>
                  <a:srgbClr val="2D2D2D"/>
                </a:solidFill>
                <a:latin typeface="Futura"/>
                <a:ea typeface="Futura"/>
                <a:cs typeface="Futura"/>
              </a:rPr>
              <a:t>FINANCING BY</a:t>
            </a:r>
          </a:p>
        </p:txBody>
      </p:sp>
      <p:pic>
        <p:nvPicPr>
          <p:cNvPr id="20" name="Picture 19" descr="img19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64557" y="8517135"/>
            <a:ext cx="1098946" cy="4191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654004" y="8562975"/>
            <a:ext cx="1952244" cy="32563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14"/>
              </a:lnSpc>
            </a:pPr>
            <a:r>
              <a:rPr sz="90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Nate DiGiovanni, Loan Officer</a:t>
            </a:r>
          </a:p>
          <a:p>
            <a:pPr algn="l">
              <a:lnSpc>
                <a:spcPts val="1214"/>
              </a:lnSpc>
            </a:pPr>
            <a:r>
              <a:rPr sz="90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NMLS #1934694 | 504.418.3416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9120187"/>
            <a:ext cx="6553200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9232106"/>
            <a:ext cx="4841572" cy="1143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555555"/>
                </a:solidFill>
                <a:latin typeface="Futura"/>
                <a:ea typeface="Futura"/>
                <a:cs typeface="Futura"/>
              </a:rPr>
              <a:t>Conventional financing offered by Eustis Mortgage Corporation. See reverse for payment example.</a:t>
            </a:r>
          </a:p>
        </p:txBody>
      </p:sp>
      <p:pic>
        <p:nvPicPr>
          <p:cNvPr id="24" name="Picture 23" descr="img23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04937" y="9448800"/>
            <a:ext cx="4962525" cy="2857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0" cy="10058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772400" cy="208404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30530"/>
            <a:ext cx="4351695" cy="1485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75" b="0" i="0" spc="292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CONDO FINANCING AT THE ALEXANDRE</a:t>
            </a:r>
          </a:p>
        </p:txBody>
      </p:sp>
      <p:pic>
        <p:nvPicPr>
          <p:cNvPr id="5" name="Picture 4" descr="img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4293" y="285750"/>
            <a:ext cx="1148506" cy="4381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9600" y="841995"/>
            <a:ext cx="561143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Financing your new condo.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379190"/>
            <a:ext cx="6883131" cy="4476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Eustis Mortgage has conventional financing available for condos in this building. A New Orleans lender since 1956.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329785"/>
            <a:ext cx="2037037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" b="0" i="0" spc="234">
                <a:solidFill>
                  <a:srgbClr val="2D2D2D"/>
                </a:solidFill>
                <a:latin typeface="Futura"/>
                <a:ea typeface="Futura"/>
                <a:cs typeface="Futura"/>
              </a:rPr>
              <a:t>FINANCING OPTIONS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2617440"/>
            <a:ext cx="3840360" cy="150495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200" y="2907000"/>
            <a:ext cx="1133180" cy="1257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25" b="0" i="0" spc="198">
                <a:solidFill>
                  <a:srgbClr val="FFFFFF"/>
                </a:solidFill>
                <a:latin typeface="Futura"/>
                <a:ea typeface="Futura"/>
                <a:cs typeface="Futura"/>
              </a:rPr>
              <a:t>AS LITTLE 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2981295"/>
            <a:ext cx="986289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51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3707100"/>
            <a:ext cx="541624" cy="1257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25" b="0" i="0" spc="198">
                <a:solidFill>
                  <a:srgbClr val="FFFFFF"/>
                </a:solidFill>
                <a:latin typeface="Futura"/>
                <a:ea typeface="Futura"/>
                <a:cs typeface="Futura"/>
              </a:rPr>
              <a:t>DOWN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76586" y="3029872"/>
            <a:ext cx="2103673" cy="2514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65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Primary residence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6586" y="3355627"/>
            <a:ext cx="2248679" cy="3667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62"/>
              </a:lnSpc>
            </a:pPr>
            <a:r>
              <a:rPr sz="975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Conventional condo financing for eligible buyers.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02360" y="2617440"/>
            <a:ext cx="2560290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602360" y="3312765"/>
            <a:ext cx="2560290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602360" y="2617440"/>
            <a:ext cx="9525" cy="704850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153126" y="2617440"/>
            <a:ext cx="9525" cy="704850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83335" y="2756505"/>
            <a:ext cx="1326371" cy="2171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42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Second home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83335" y="3033682"/>
            <a:ext cx="1203992" cy="1485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Contact for details.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02360" y="3417540"/>
            <a:ext cx="2560290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02360" y="4112865"/>
            <a:ext cx="2560290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602360" y="3417540"/>
            <a:ext cx="9525" cy="704850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153126" y="3417540"/>
            <a:ext cx="9525" cy="704850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83335" y="3556605"/>
            <a:ext cx="2039034" cy="2171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42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Investment property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83335" y="3833782"/>
            <a:ext cx="1203992" cy="1485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Contact for details.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4448204"/>
            <a:ext cx="2131453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" b="0" i="0" spc="234">
                <a:solidFill>
                  <a:srgbClr val="2D2D2D"/>
                </a:solidFill>
                <a:latin typeface="Futura"/>
                <a:ea typeface="Futura"/>
                <a:cs typeface="Futura"/>
              </a:rPr>
              <a:t>HOW TO GET STARTED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9600" y="4735859"/>
            <a:ext cx="2031950" cy="9525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9600" y="4876829"/>
            <a:ext cx="266700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" b="0" i="0" spc="18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5088269"/>
            <a:ext cx="1597818" cy="2171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42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Get prequalified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5362575"/>
            <a:ext cx="2066627" cy="5524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62"/>
              </a:lnSpc>
            </a:pPr>
            <a:r>
              <a:rPr sz="975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Connect with Nate to explore financing options and find a payment that fits your plans.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70150" y="4735859"/>
            <a:ext cx="2031950" cy="9525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70150" y="4876829"/>
            <a:ext cx="281582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" b="0" i="0" spc="18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70150" y="5088269"/>
            <a:ext cx="1616338" cy="2171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42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Find your condo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70150" y="5362575"/>
            <a:ext cx="2017406" cy="5524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62"/>
              </a:lnSpc>
            </a:pPr>
            <a:r>
              <a:rPr sz="975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Tour available units at The Alexandre with Desiree McSwain and choose your favorite.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130700" y="4735859"/>
            <a:ext cx="2031950" cy="9525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30700" y="4876829"/>
            <a:ext cx="278308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" b="0" i="0" spc="18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30700" y="5088269"/>
            <a:ext cx="1194732" cy="2171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42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Get the keys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30700" y="5362575"/>
            <a:ext cx="2072148" cy="3667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62"/>
              </a:lnSpc>
            </a:pPr>
            <a:r>
              <a:rPr sz="975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Celebrate closing day and the start of your next chapter at The Alexandre!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600" y="6228457"/>
            <a:ext cx="4207371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09600" y="8183909"/>
            <a:ext cx="4207371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09600" y="6228457"/>
            <a:ext cx="9525" cy="1964977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807446" y="6228457"/>
            <a:ext cx="9525" cy="1964977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img6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575" y="6772721"/>
            <a:ext cx="876300" cy="87630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819275" y="6403717"/>
            <a:ext cx="1182022" cy="1257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25" b="0" i="0" spc="198">
                <a:solidFill>
                  <a:srgbClr val="2D2D2D"/>
                </a:solidFill>
                <a:latin typeface="Futura"/>
                <a:ea typeface="Futura"/>
                <a:cs typeface="Futura"/>
              </a:rPr>
              <a:t>YOUR LENDER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19275" y="6556578"/>
            <a:ext cx="1867087" cy="2514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65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Nate DiGiovanni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19275" y="6838979"/>
            <a:ext cx="1846025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Loan Officer | NMLS #1934694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275" y="7029479"/>
            <a:ext cx="919835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Eustis Mortgage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819275" y="7237124"/>
            <a:ext cx="987016" cy="1600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504.418.3416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819275" y="7447627"/>
            <a:ext cx="1612889" cy="1485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nate@eustismortgage.com</a:t>
            </a:r>
          </a:p>
        </p:txBody>
      </p:sp>
      <p:pic>
        <p:nvPicPr>
          <p:cNvPr id="51" name="Picture 50" descr="img1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19275" y="7707659"/>
            <a:ext cx="849213" cy="323850"/>
          </a:xfrm>
          <a:prstGeom prst="rect">
            <a:avLst/>
          </a:prstGeom>
        </p:spPr>
      </p:pic>
      <p:pic>
        <p:nvPicPr>
          <p:cNvPr id="52" name="Picture 51" descr="img7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18619" y="6686996"/>
            <a:ext cx="876300" cy="87630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3677542" y="7621398"/>
            <a:ext cx="1169312" cy="10286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675" b="0" i="0" spc="122">
                <a:solidFill>
                  <a:srgbClr val="2D2D2D"/>
                </a:solidFill>
                <a:latin typeface="Futura"/>
                <a:ea typeface="Futura"/>
                <a:cs typeface="Futura"/>
              </a:rPr>
              <a:t>APPLY WITH NATE</a:t>
            </a:r>
          </a:p>
        </p:txBody>
      </p:sp>
      <p:pic>
        <p:nvPicPr>
          <p:cNvPr id="54" name="Picture 53" descr="img7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6521" y="6567933"/>
            <a:ext cx="571500" cy="5715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5712321" y="6576506"/>
            <a:ext cx="1566951" cy="1257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25" b="0" i="0" spc="198">
                <a:solidFill>
                  <a:srgbClr val="2D2D2D"/>
                </a:solidFill>
                <a:latin typeface="Futura"/>
                <a:ea typeface="Futura"/>
                <a:cs typeface="Futura"/>
              </a:rPr>
              <a:t>TOURS AND UNITS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712321" y="6742241"/>
            <a:ext cx="1518472" cy="1943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27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Desiree McSwain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712321" y="6979413"/>
            <a:ext cx="885699" cy="1485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504-232-8199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26521" y="7208013"/>
            <a:ext cx="2081703" cy="1485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coolmurphy.com/thealexandre</a:t>
            </a:r>
          </a:p>
        </p:txBody>
      </p:sp>
      <p:pic>
        <p:nvPicPr>
          <p:cNvPr id="59" name="Picture 58" descr="img8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6521" y="7458521"/>
            <a:ext cx="1272778" cy="40005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609600" y="8502104"/>
            <a:ext cx="6553200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9600" y="8620214"/>
            <a:ext cx="2943436" cy="1257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25" b="0" i="0" spc="198">
                <a:solidFill>
                  <a:srgbClr val="555555"/>
                </a:solidFill>
                <a:latin typeface="Futura"/>
                <a:ea typeface="Futura"/>
                <a:cs typeface="Futura"/>
              </a:rPr>
              <a:t>FINANCING BY EUSTIS MORTGAGE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9600" y="8833098"/>
            <a:ext cx="3148066" cy="1143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555555"/>
                </a:solidFill>
                <a:latin typeface="Futura"/>
                <a:ea typeface="Futura"/>
                <a:cs typeface="Futura"/>
              </a:rPr>
              <a:t>Conventional financing offered by Eustis Mortgage Corporation.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9600" y="9011691"/>
            <a:ext cx="6871614" cy="3866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97"/>
              </a:lnSpc>
            </a:pPr>
            <a:r>
              <a:rPr sz="712" b="0" i="0">
                <a:solidFill>
                  <a:srgbClr val="555555"/>
                </a:solidFill>
                <a:latin typeface="Futura"/>
                <a:ea typeface="Futura"/>
                <a:cs typeface="Futura"/>
              </a:rPr>
              <a:t>Payment example: For a sales price of $365,000 with 5% down, a loan amount of $346,750 on a 30-year fixed conventional loan at a 7.500% interest rate (8.000% APR) would have 360 monthly principal and interest payments of approximately $2,424.53. Payment shown is principal and interest only and excludes taxes, insurance, PMI, and HOA dues; the actual payment will be higher. Rates are for example only, are not a quote, and are subject to change.</a:t>
            </a:r>
          </a:p>
        </p:txBody>
      </p:sp>
      <p:pic>
        <p:nvPicPr>
          <p:cNvPr id="64" name="Picture 63" descr="img2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04937" y="9505950"/>
            <a:ext cx="4962525" cy="2857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