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3200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23850"/>
            <a:ext cx="2476500" cy="10045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457200"/>
            <a:ext cx="2095500" cy="7378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3200400"/>
            <a:ext cx="7772400" cy="276225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3458051"/>
            <a:ext cx="4351695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 spc="292">
                <a:solidFill>
                  <a:srgbClr val="FFFFFF"/>
                </a:solidFill>
                <a:latin typeface="Futura"/>
                <a:ea typeface="Futura"/>
                <a:cs typeface="Futura"/>
              </a:rPr>
              <a:t>CONDO FINANCING AT THE ALEXANDRE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91636"/>
            <a:ext cx="7119190" cy="47053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Own a piece of New Orleans history.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4281933"/>
            <a:ext cx="6553200" cy="9525"/>
          </a:xfrm>
          <a:prstGeom prst="rect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453860"/>
            <a:ext cx="1375395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 spc="254">
                <a:solidFill>
                  <a:srgbClr val="FFFFFF"/>
                </a:solidFill>
                <a:latin typeface="Futura"/>
                <a:ea typeface="Futura"/>
                <a:cs typeface="Futura"/>
              </a:rPr>
              <a:t>AS LITTLE 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38573"/>
            <a:ext cx="1247206" cy="106489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45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546258"/>
            <a:ext cx="652200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 spc="254">
                <a:solidFill>
                  <a:srgbClr val="FFFFFF"/>
                </a:solidFill>
                <a:latin typeface="Futura"/>
                <a:ea typeface="Futura"/>
                <a:cs typeface="Futura"/>
              </a:rPr>
              <a:t>DOWN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60823" y="4443858"/>
            <a:ext cx="6250" cy="1273373"/>
          </a:xfrm>
          <a:prstGeom prst="rect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0923" y="4710975"/>
            <a:ext cx="1937536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 spc="216">
                <a:solidFill>
                  <a:srgbClr val="FFFFFF"/>
                </a:solidFill>
                <a:latin typeface="Futura"/>
                <a:ea typeface="Futura"/>
                <a:cs typeface="Futura"/>
              </a:rPr>
              <a:t>PRIMARY RESIDENCE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0923" y="4947195"/>
            <a:ext cx="4984200" cy="5048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Conventional condo financing with as little as 5% down for eligible primary‑residence buyers and units.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83630"/>
            <a:ext cx="1563501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 spc="216">
                <a:solidFill>
                  <a:srgbClr val="2D2D2D"/>
                </a:solidFill>
                <a:latin typeface="Futura"/>
                <a:ea typeface="Futura"/>
                <a:cs typeface="Futura"/>
              </a:rPr>
              <a:t>ALSO 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4508" y="6117907"/>
            <a:ext cx="3479250" cy="2228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Second home and investment condos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0053" y="6161722"/>
            <a:ext cx="1247751" cy="17335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Contact for details</a:t>
            </a:r>
          </a:p>
        </p:txBody>
      </p:sp>
      <p:pic>
        <p:nvPicPr>
          <p:cNvPr id="19" name="Picture 18" descr="img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7122765"/>
            <a:ext cx="819150" cy="8191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62100" y="6681847"/>
            <a:ext cx="1182022" cy="13620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b="0" i="0" spc="198">
                <a:solidFill>
                  <a:srgbClr val="2D2D2D"/>
                </a:solidFill>
                <a:latin typeface="Futura"/>
                <a:ea typeface="Futura"/>
                <a:cs typeface="Futura"/>
              </a:rPr>
              <a:t>YOUR LENDER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2100" y="6829469"/>
            <a:ext cx="1867087" cy="27241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Nate DiGiovanni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2100" y="7116633"/>
            <a:ext cx="1846025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Loan Officer | NMLS #1934694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2100" y="7307133"/>
            <a:ext cx="919835" cy="1485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Eustis Mortgage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62100" y="7513826"/>
            <a:ext cx="987016" cy="17335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504.418.3416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2100" y="7724804"/>
            <a:ext cx="1612889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nate@eustismortgage.com</a:t>
            </a:r>
          </a:p>
        </p:txBody>
      </p:sp>
      <p:pic>
        <p:nvPicPr>
          <p:cNvPr id="26" name="Picture 25" descr="img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" y="8010078"/>
            <a:ext cx="999083" cy="381000"/>
          </a:xfrm>
          <a:prstGeom prst="rect">
            <a:avLst/>
          </a:prstGeom>
        </p:spPr>
      </p:pic>
      <p:pic>
        <p:nvPicPr>
          <p:cNvPr id="27" name="Picture 26" descr="img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889" y="7046565"/>
            <a:ext cx="800100" cy="8001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60712" y="7900481"/>
            <a:ext cx="1169312" cy="11144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b="0" i="0" spc="122">
                <a:solidFill>
                  <a:srgbClr val="2D2D2D"/>
                </a:solidFill>
                <a:latin typeface="Futura"/>
                <a:ea typeface="Futura"/>
                <a:cs typeface="Futura"/>
              </a:rPr>
              <a:t>APPLY WITH NATE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28716" y="6673750"/>
            <a:ext cx="9525" cy="1717327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g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741" y="6678513"/>
            <a:ext cx="571500" cy="571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614541" y="6681847"/>
            <a:ext cx="1566951" cy="13620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b="0" i="0" spc="198">
                <a:solidFill>
                  <a:srgbClr val="2D2D2D"/>
                </a:solidFill>
                <a:latin typeface="Futura"/>
                <a:ea typeface="Futura"/>
                <a:cs typeface="Futura"/>
              </a:rPr>
              <a:t>TOURS AND UNITS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14541" y="6844724"/>
            <a:ext cx="1518472" cy="21050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Desiree McSwain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14541" y="7083802"/>
            <a:ext cx="885699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504-232-8199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28741" y="7331452"/>
            <a:ext cx="2081703" cy="1609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coolmurphy.com/thealexandre</a:t>
            </a:r>
          </a:p>
        </p:txBody>
      </p:sp>
      <p:pic>
        <p:nvPicPr>
          <p:cNvPr id="35" name="Picture 34" descr="img3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8741" y="7607200"/>
            <a:ext cx="1272778" cy="4000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9600" y="8729275"/>
            <a:ext cx="2943436" cy="13620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b="0" i="0" spc="198">
                <a:solidFill>
                  <a:srgbClr val="555555"/>
                </a:solidFill>
                <a:latin typeface="Futura"/>
                <a:ea typeface="Futura"/>
                <a:cs typeface="Futura"/>
              </a:rPr>
              <a:t>FINANCING BY EUSTIS MORTGAGE</a:t>
            </a:r>
          </a:p>
        </p:txBody>
      </p:sp>
      <p:pic>
        <p:nvPicPr>
          <p:cNvPr id="37" name="Picture 36" descr="snap3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9023598"/>
            <a:ext cx="238125" cy="2190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04875" y="9004548"/>
            <a:ext cx="945802" cy="2524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62"/>
              </a:lnSpc>
            </a:pPr>
            <a:r>
              <a:rPr sz="750" b="0" i="0" spc="45">
                <a:solidFill>
                  <a:srgbClr val="555555"/>
                </a:solidFill>
                <a:latin typeface="Futura"/>
                <a:ea typeface="Futura"/>
                <a:cs typeface="Futura"/>
              </a:rPr>
              <a:t>EQUAL HOUSING</a:t>
            </a:r>
          </a:p>
          <a:p>
            <a:pPr algn="l">
              <a:lnSpc>
                <a:spcPts val="862"/>
              </a:lnSpc>
            </a:pPr>
            <a:r>
              <a:rPr sz="750" b="0" i="0" spc="45">
                <a:solidFill>
                  <a:srgbClr val="555555"/>
                </a:solidFill>
                <a:latin typeface="Futura"/>
                <a:ea typeface="Futura"/>
                <a:cs typeface="Futura"/>
              </a:rPr>
              <a:t>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9442" y="8930729"/>
            <a:ext cx="5448481" cy="4000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12"/>
              </a:lnSpc>
            </a:pPr>
            <a:r>
              <a:rPr sz="750" b="0" i="0" spc="15">
                <a:solidFill>
                  <a:srgbClr val="555555"/>
                </a:solidFill>
                <a:latin typeface="Futura"/>
                <a:ea typeface="Futura"/>
                <a:cs typeface="Futura"/>
              </a:rPr>
              <a:t>CONVENTIONAL FINANCING OFFERED BY EUSTIS MORTGAGE CORPORATION. NOT A COMMITMENT TO LEND. ALL BORROWERS ARE SUBJECT TO CREDIT APPROVAL. RATES AND TERMS MAY CHANGE AT ANYTIME WITHOUT NOTICE. NMLS #70345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9383166"/>
            <a:ext cx="6871614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7"/>
              </a:lnSpc>
            </a:pPr>
            <a:r>
              <a:rPr sz="712" b="0" i="0">
                <a:solidFill>
                  <a:srgbClr val="555555"/>
                </a:solidFill>
                <a:latin typeface="Futura"/>
                <a:ea typeface="Futura"/>
                <a:cs typeface="Futura"/>
              </a:rPr>
              <a:t>Payment example: For a sales price of $365,000 with 5% down, a loan amount of $346,750 on a 30-year fixed conventional loan at a 7.500% interest rate (8.000% APR) would have 360 monthly principal and interest payments of approximately $2,424.53. Payment shown is principal and interest only and excludes taxes, insurance, PMI, and HOA dues; the actual payment will be higher. Rates are for example only, are not a quote, and are subject to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