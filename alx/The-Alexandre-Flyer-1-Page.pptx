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772400" cy="10058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772400" cy="10058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g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772400" cy="32004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7200" y="323850"/>
            <a:ext cx="2476500" cy="100458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g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700" y="457200"/>
            <a:ext cx="2095500" cy="737889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3200400"/>
            <a:ext cx="7772400" cy="2762250"/>
          </a:xfrm>
          <a:prstGeom prst="rect">
            <a:avLst/>
          </a:prstGeom>
          <a:solidFill>
            <a:srgbClr val="2D2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600" y="3458051"/>
            <a:ext cx="4351695" cy="160972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975" b="0" i="0" spc="292">
                <a:solidFill>
                  <a:srgbClr val="FFFFFF"/>
                </a:solidFill>
                <a:latin typeface="Futura"/>
                <a:ea typeface="Futura"/>
                <a:cs typeface="Futura"/>
              </a:rPr>
              <a:t>CONDO FINANCING AT THE ALEXANDRE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3691636"/>
            <a:ext cx="7119190" cy="470535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2850" b="0" i="0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</a:rPr>
              <a:t>Own a piece of New Orleans history.</a:t>
            </a:r>
          </a:p>
        </p:txBody>
      </p:sp>
      <p:sp>
        <p:nvSpPr>
          <p:cNvPr id="9" name="Rectangle 8"/>
          <p:cNvSpPr/>
          <p:nvPr/>
        </p:nvSpPr>
        <p:spPr>
          <a:xfrm>
            <a:off x="609600" y="4281933"/>
            <a:ext cx="6553200" cy="9525"/>
          </a:xfrm>
          <a:prstGeom prst="rect">
            <a:avLst/>
          </a:prstGeom>
          <a:solidFill>
            <a:srgbClr val="767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9600" y="4453860"/>
            <a:ext cx="1375395" cy="160972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975" b="0" i="0" spc="254">
                <a:solidFill>
                  <a:srgbClr val="FFFFFF"/>
                </a:solidFill>
                <a:latin typeface="Futura"/>
                <a:ea typeface="Futura"/>
                <a:cs typeface="Futura"/>
              </a:rPr>
              <a:t>AS LITTLE 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4538573"/>
            <a:ext cx="1247206" cy="1064895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6450" b="0" i="0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</a:rPr>
              <a:t>5%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600" y="5546258"/>
            <a:ext cx="652200" cy="160972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975" b="0" i="0" spc="254">
                <a:solidFill>
                  <a:srgbClr val="FFFFFF"/>
                </a:solidFill>
                <a:latin typeface="Futura"/>
                <a:ea typeface="Futura"/>
                <a:cs typeface="Futura"/>
              </a:rPr>
              <a:t>DOWN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060823" y="4443858"/>
            <a:ext cx="6250" cy="1273373"/>
          </a:xfrm>
          <a:prstGeom prst="rect">
            <a:avLst/>
          </a:prstGeom>
          <a:solidFill>
            <a:srgbClr val="767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90923" y="4710975"/>
            <a:ext cx="1937536" cy="148590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900" b="0" i="0" spc="216">
                <a:solidFill>
                  <a:srgbClr val="FFFFFF"/>
                </a:solidFill>
                <a:latin typeface="Futura"/>
                <a:ea typeface="Futura"/>
                <a:cs typeface="Futura"/>
              </a:rPr>
              <a:t>PRIMARY RESIDENCE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90923" y="4947195"/>
            <a:ext cx="4984200" cy="5048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025"/>
              </a:lnSpc>
            </a:pPr>
            <a:r>
              <a:rPr sz="1350" b="0" i="0">
                <a:solidFill>
                  <a:srgbClr val="FFFFFF"/>
                </a:solidFill>
                <a:latin typeface="Futura"/>
                <a:ea typeface="Futura"/>
                <a:cs typeface="Futura"/>
              </a:rPr>
              <a:t>Conventional condo financing with as little as 5% down for eligible primary‑residence buyers and units.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600" y="6183630"/>
            <a:ext cx="1563501" cy="148590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900" b="0" i="0" spc="216">
                <a:solidFill>
                  <a:srgbClr val="2D2D2D"/>
                </a:solidFill>
                <a:latin typeface="Futura"/>
                <a:ea typeface="Futura"/>
                <a:cs typeface="Futura"/>
              </a:rPr>
              <a:t>ALSO AVAILABLE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24508" y="6117907"/>
            <a:ext cx="3479250" cy="222885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2D2D2D"/>
                </a:solidFill>
                <a:latin typeface="Playfair Display"/>
                <a:ea typeface="Playfair Display"/>
                <a:cs typeface="Playfair Display"/>
              </a:rPr>
              <a:t>Second home and investment condos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40053" y="6161722"/>
            <a:ext cx="1247751" cy="173355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2D2D2D"/>
                </a:solidFill>
                <a:latin typeface="Futura"/>
                <a:ea typeface="Futura"/>
                <a:cs typeface="Futura"/>
              </a:rPr>
              <a:t>Contact for details</a:t>
            </a:r>
          </a:p>
        </p:txBody>
      </p:sp>
      <p:pic>
        <p:nvPicPr>
          <p:cNvPr id="19" name="Picture 18" descr="img1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" y="7056090"/>
            <a:ext cx="819150" cy="81915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562100" y="6615172"/>
            <a:ext cx="1182022" cy="136207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825" b="0" i="0" spc="198">
                <a:solidFill>
                  <a:srgbClr val="2D2D2D"/>
                </a:solidFill>
                <a:latin typeface="Futura"/>
                <a:ea typeface="Futura"/>
                <a:cs typeface="Futura"/>
              </a:rPr>
              <a:t>YOUR LENDER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62100" y="6762794"/>
            <a:ext cx="1867087" cy="272415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650" b="0" i="0">
                <a:solidFill>
                  <a:srgbClr val="2D2D2D"/>
                </a:solidFill>
                <a:latin typeface="Playfair Display"/>
                <a:ea typeface="Playfair Display"/>
                <a:cs typeface="Playfair Display"/>
              </a:rPr>
              <a:t>Nate DiGiovanni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62100" y="7049958"/>
            <a:ext cx="1846025" cy="148590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2D2D2D"/>
                </a:solidFill>
                <a:latin typeface="Futura"/>
                <a:ea typeface="Futura"/>
                <a:cs typeface="Futura"/>
              </a:rPr>
              <a:t>Loan Officer | NMLS #1934694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62100" y="7240458"/>
            <a:ext cx="919835" cy="148590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2D2D2D"/>
                </a:solidFill>
                <a:latin typeface="Futura"/>
                <a:ea typeface="Futura"/>
                <a:cs typeface="Futura"/>
              </a:rPr>
              <a:t>Eustis Mortgage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62100" y="7447151"/>
            <a:ext cx="987016" cy="173355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2D2D2D"/>
                </a:solidFill>
                <a:latin typeface="Futura"/>
                <a:ea typeface="Futura"/>
                <a:cs typeface="Futura"/>
              </a:rPr>
              <a:t>504.418.3416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62100" y="7658129"/>
            <a:ext cx="1612889" cy="160972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975" b="0" i="0">
                <a:solidFill>
                  <a:srgbClr val="2D2D2D"/>
                </a:solidFill>
                <a:latin typeface="Futura"/>
                <a:ea typeface="Futura"/>
                <a:cs typeface="Futura"/>
              </a:rPr>
              <a:t>nate@eustismortgage.com</a:t>
            </a:r>
          </a:p>
        </p:txBody>
      </p:sp>
      <p:pic>
        <p:nvPicPr>
          <p:cNvPr id="26" name="Picture 25" descr="img2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62100" y="7943403"/>
            <a:ext cx="999083" cy="381000"/>
          </a:xfrm>
          <a:prstGeom prst="rect">
            <a:avLst/>
          </a:prstGeom>
        </p:spPr>
      </p:pic>
      <p:pic>
        <p:nvPicPr>
          <p:cNvPr id="27" name="Picture 26" descr="img2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39889" y="6979890"/>
            <a:ext cx="800100" cy="8001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3560712" y="7833806"/>
            <a:ext cx="1169312" cy="111442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675" b="0" i="0" spc="122">
                <a:solidFill>
                  <a:srgbClr val="2D2D2D"/>
                </a:solidFill>
                <a:latin typeface="Futura"/>
                <a:ea typeface="Futura"/>
                <a:cs typeface="Futura"/>
              </a:rPr>
              <a:t>APPLY WITH NATE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728716" y="6607075"/>
            <a:ext cx="9525" cy="1717327"/>
          </a:xfrm>
          <a:prstGeom prst="rect">
            <a:avLst/>
          </a:prstGeom>
          <a:solidFill>
            <a:srgbClr val="CACA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img29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28741" y="6611838"/>
            <a:ext cx="571500" cy="5715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5614541" y="6615172"/>
            <a:ext cx="1566951" cy="136207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825" b="0" i="0" spc="198">
                <a:solidFill>
                  <a:srgbClr val="2D2D2D"/>
                </a:solidFill>
                <a:latin typeface="Futura"/>
                <a:ea typeface="Futura"/>
                <a:cs typeface="Futura"/>
              </a:rPr>
              <a:t>TOURS AND UNITS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14541" y="6778049"/>
            <a:ext cx="1518472" cy="210502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275" b="0" i="0">
                <a:solidFill>
                  <a:srgbClr val="2D2D2D"/>
                </a:solidFill>
                <a:latin typeface="Playfair Display"/>
                <a:ea typeface="Playfair Display"/>
                <a:cs typeface="Playfair Display"/>
              </a:rPr>
              <a:t>Desiree McSwain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14541" y="7017127"/>
            <a:ext cx="885699" cy="160972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975" b="0" i="0">
                <a:solidFill>
                  <a:srgbClr val="2D2D2D"/>
                </a:solidFill>
                <a:latin typeface="Futura"/>
                <a:ea typeface="Futura"/>
                <a:cs typeface="Futura"/>
              </a:rPr>
              <a:t>504-232-8199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928741" y="7264777"/>
            <a:ext cx="2081703" cy="160972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975" b="0" i="0">
                <a:solidFill>
                  <a:srgbClr val="2D2D2D"/>
                </a:solidFill>
                <a:latin typeface="Playfair Display"/>
                <a:ea typeface="Playfair Display"/>
                <a:cs typeface="Playfair Display"/>
              </a:rPr>
              <a:t>coolmurphy.com/thealexandre</a:t>
            </a:r>
          </a:p>
        </p:txBody>
      </p:sp>
      <p:pic>
        <p:nvPicPr>
          <p:cNvPr id="35" name="Picture 34" descr="img34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928741" y="7540525"/>
            <a:ext cx="1272778" cy="40005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609600" y="8595925"/>
            <a:ext cx="2943436" cy="136207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825" b="0" i="0" spc="198">
                <a:solidFill>
                  <a:srgbClr val="555555"/>
                </a:solidFill>
                <a:latin typeface="Futura"/>
                <a:ea typeface="Futura"/>
                <a:cs typeface="Futura"/>
              </a:rPr>
              <a:t>FINANCING BY EUSTIS MORTGAGE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09600" y="8809285"/>
            <a:ext cx="3148066" cy="123825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750" b="0" i="0">
                <a:solidFill>
                  <a:srgbClr val="555555"/>
                </a:solidFill>
                <a:latin typeface="Futura"/>
                <a:ea typeface="Futura"/>
                <a:cs typeface="Futura"/>
              </a:rPr>
              <a:t>Conventional financing offered by Eustis Mortgage Corporation.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9600" y="8992641"/>
            <a:ext cx="6871614" cy="38665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997"/>
              </a:lnSpc>
            </a:pPr>
            <a:r>
              <a:rPr sz="712" b="0" i="0">
                <a:solidFill>
                  <a:srgbClr val="555555"/>
                </a:solidFill>
                <a:latin typeface="Futura"/>
                <a:ea typeface="Futura"/>
                <a:cs typeface="Futura"/>
              </a:rPr>
              <a:t>Payment example: For a sales price of $365,000 with 5% down, a loan amount of $346,750 on a 30-year fixed conventional loan at a 7.500% interest rate (8.000% APR) would have 360 monthly principal and interest payments of approximately $2,424.53. Payment shown is principal and interest only and excludes taxes, insurance, PMI, and HOA dues; the actual payment will be higher. Rates are for example only, are not a quote, and are subject to change.</a:t>
            </a:r>
          </a:p>
        </p:txBody>
      </p:sp>
      <p:pic>
        <p:nvPicPr>
          <p:cNvPr id="39" name="Picture 38" descr="img38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404937" y="9486900"/>
            <a:ext cx="4962525" cy="28575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