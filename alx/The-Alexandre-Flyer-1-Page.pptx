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23850"/>
            <a:ext cx="2476500" cy="10045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57200"/>
            <a:ext cx="2095500" cy="7378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200400"/>
            <a:ext cx="7772400" cy="27622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3458051"/>
            <a:ext cx="37809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CONDO FINANCING AT THE ALEXANDRE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691636"/>
            <a:ext cx="6185526" cy="47053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8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Own a piece of New Orleans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81933"/>
            <a:ext cx="6553200" cy="9525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453860"/>
            <a:ext cx="119501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538573"/>
            <a:ext cx="1083638" cy="10648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546258"/>
            <a:ext cx="59174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0823" y="4443858"/>
            <a:ext cx="6250" cy="1273373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0923" y="4710975"/>
            <a:ext cx="168343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PRIMARY RESIDENCE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0923" y="4947195"/>
            <a:ext cx="4984200" cy="5048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Conventional condo financing with as little as 5% down for eligible primary‑residence buyers and units.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83630"/>
            <a:ext cx="135845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ALSO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4508" y="6117907"/>
            <a:ext cx="3022955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condos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053" y="6161722"/>
            <a:ext cx="1084111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Contact for details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7122765"/>
            <a:ext cx="819150" cy="819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62100" y="6681847"/>
            <a:ext cx="1027003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YOUR LENDER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2100" y="6829469"/>
            <a:ext cx="1622223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2100" y="7116633"/>
            <a:ext cx="160392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Loan Officer | NMLS #1934694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2100" y="7307133"/>
            <a:ext cx="81111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Eustis Mortgage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100" y="7513826"/>
            <a:ext cx="866179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504.418.3416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100" y="7724804"/>
            <a:ext cx="140136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nate@eustismortgage.com</a:t>
            </a:r>
          </a:p>
        </p:txBody>
      </p:sp>
      <p:pic>
        <p:nvPicPr>
          <p:cNvPr id="26" name="Picture 25" descr="img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2100" y="8010078"/>
            <a:ext cx="999083" cy="381000"/>
          </a:xfrm>
          <a:prstGeom prst="rect">
            <a:avLst/>
          </a:prstGeom>
        </p:spPr>
      </p:pic>
      <p:pic>
        <p:nvPicPr>
          <p:cNvPr id="27" name="Picture 26" descr="img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889" y="7046565"/>
            <a:ext cx="800100" cy="8001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60712" y="7900481"/>
            <a:ext cx="1015960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APPLY WITH NATE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28716" y="6673750"/>
            <a:ext cx="9525" cy="171732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g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741" y="6678513"/>
            <a:ext cx="571500" cy="571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14541" y="6681847"/>
            <a:ext cx="1361449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Jost Medium"/>
                <a:ea typeface="Jost Medium"/>
                <a:cs typeface="Jost Medium"/>
              </a:rPr>
              <a:t>TOURS AND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541" y="6844724"/>
            <a:ext cx="1319328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541" y="7083802"/>
            <a:ext cx="78313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 Light"/>
                <a:ea typeface="Jost Light"/>
                <a:cs typeface="Jost Light"/>
              </a:rPr>
              <a:t>504-232-8199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8741" y="7331452"/>
            <a:ext cx="180869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35" name="Picture 34" descr="img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741" y="7607200"/>
            <a:ext cx="1272778" cy="4000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09600" y="8729275"/>
            <a:ext cx="2557411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FINANCING BY EUSTIS MORTGAGE</a:t>
            </a:r>
          </a:p>
        </p:txBody>
      </p:sp>
      <p:pic>
        <p:nvPicPr>
          <p:cNvPr id="37" name="Picture 36" descr="snap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9023598"/>
            <a:ext cx="238125" cy="21907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875" y="9004548"/>
            <a:ext cx="90770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 Medium"/>
                <a:ea typeface="Jost Medium"/>
                <a:cs typeface="Jost Medium"/>
              </a:rPr>
              <a:t>OPPORTUNITY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9442" y="8930729"/>
            <a:ext cx="5448481" cy="400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12"/>
              </a:lnSpc>
            </a:pPr>
            <a:r>
              <a:rPr sz="750" b="0" i="0" spc="15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9383166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Jost"/>
                <a:ea typeface="Jost"/>
                <a:cs typeface="Jost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